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2"/>
  </p:notesMasterIdLst>
  <p:sldIdLst>
    <p:sldId id="256" r:id="rId2"/>
    <p:sldId id="257" r:id="rId3"/>
    <p:sldId id="258" r:id="rId4"/>
    <p:sldId id="259" r:id="rId5"/>
    <p:sldId id="260" r:id="rId6"/>
    <p:sldId id="261" r:id="rId7"/>
    <p:sldId id="267" r:id="rId8"/>
    <p:sldId id="262" r:id="rId9"/>
    <p:sldId id="263" r:id="rId10"/>
    <p:sldId id="264" r:id="rId11"/>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EEA1F-FECD-4FF9-95CF-76C93672A27C}" v="11" dt="2026-04-30T00:35:04.080"/>
    <p1510:client id="{49560EDF-9CB9-41D1-9618-1748A9178868}" v="5" dt="2026-04-30T04:42:06.616"/>
    <p1510:client id="{F199C9A7-F7C6-4FE4-A4AA-F33FA5989E97}" v="3" dt="2026-04-30T03:05:17.8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72930" autoAdjust="0"/>
  </p:normalViewPr>
  <p:slideViewPr>
    <p:cSldViewPr snapToGrid="0" snapToObjects="1">
      <p:cViewPr varScale="1">
        <p:scale>
          <a:sx n="60" d="100"/>
          <a:sy n="60" d="100"/>
        </p:scale>
        <p:origin x="13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 Z" userId="817a32b62f5c8f97" providerId="LiveId" clId="{DD8329A5-B4AA-41E4-8C9C-E1F8D24E05C6}"/>
    <pc:docChg chg="addSld delSld modSld">
      <pc:chgData name="N Z" userId="817a32b62f5c8f97" providerId="LiveId" clId="{DD8329A5-B4AA-41E4-8C9C-E1F8D24E05C6}" dt="2026-04-30T05:01:40.456" v="49" actId="20577"/>
      <pc:docMkLst>
        <pc:docMk/>
      </pc:docMkLst>
      <pc:sldChg chg="modNotesTx">
        <pc:chgData name="N Z" userId="817a32b62f5c8f97" providerId="LiveId" clId="{DD8329A5-B4AA-41E4-8C9C-E1F8D24E05C6}" dt="2026-04-30T04:40:51.949" v="3" actId="20577"/>
        <pc:sldMkLst>
          <pc:docMk/>
          <pc:sldMk cId="0" sldId="262"/>
        </pc:sldMkLst>
      </pc:sldChg>
      <pc:sldChg chg="modSp mod modNotesTx">
        <pc:chgData name="N Z" userId="817a32b62f5c8f97" providerId="LiveId" clId="{DD8329A5-B4AA-41E4-8C9C-E1F8D24E05C6}" dt="2026-04-30T05:01:40.456" v="49" actId="20577"/>
        <pc:sldMkLst>
          <pc:docMk/>
          <pc:sldMk cId="0" sldId="264"/>
        </pc:sldMkLst>
        <pc:spChg chg="mod">
          <ac:chgData name="N Z" userId="817a32b62f5c8f97" providerId="LiveId" clId="{DD8329A5-B4AA-41E4-8C9C-E1F8D24E05C6}" dt="2026-04-30T05:01:40.456" v="49" actId="20577"/>
          <ac:spMkLst>
            <pc:docMk/>
            <pc:sldMk cId="0" sldId="264"/>
            <ac:spMk id="3" creationId="{00000000-0000-0000-0000-000000000000}"/>
          </ac:spMkLst>
        </pc:spChg>
      </pc:sldChg>
      <pc:sldChg chg="del">
        <pc:chgData name="N Z" userId="817a32b62f5c8f97" providerId="LiveId" clId="{DD8329A5-B4AA-41E4-8C9C-E1F8D24E05C6}" dt="2026-04-30T04:40:05.051" v="1" actId="47"/>
        <pc:sldMkLst>
          <pc:docMk/>
          <pc:sldMk cId="0" sldId="266"/>
        </pc:sldMkLst>
      </pc:sldChg>
      <pc:sldChg chg="add setBg">
        <pc:chgData name="N Z" userId="817a32b62f5c8f97" providerId="LiveId" clId="{DD8329A5-B4AA-41E4-8C9C-E1F8D24E05C6}" dt="2026-04-30T04:39:15.184" v="0"/>
        <pc:sldMkLst>
          <pc:docMk/>
          <pc:sldMk cId="0" sldId="267"/>
        </pc:sldMkLst>
      </pc:sldChg>
    </pc:docChg>
  </pc:docChgLst>
  <pc:docChgLst>
    <pc:chgData name="N Z" userId="817a32b62f5c8f97" providerId="LiveId" clId="{91AFDEF6-9C5C-47EA-88B0-85AC90061651}"/>
    <pc:docChg chg="undo custSel modSld">
      <pc:chgData name="N Z" userId="817a32b62f5c8f97" providerId="LiveId" clId="{91AFDEF6-9C5C-47EA-88B0-85AC90061651}" dt="2026-04-30T03:07:31.376" v="175" actId="20577"/>
      <pc:docMkLst>
        <pc:docMk/>
      </pc:docMkLst>
      <pc:sldChg chg="modSp mod">
        <pc:chgData name="N Z" userId="817a32b62f5c8f97" providerId="LiveId" clId="{91AFDEF6-9C5C-47EA-88B0-85AC90061651}" dt="2026-04-30T02:42:11.045" v="156" actId="20577"/>
        <pc:sldMkLst>
          <pc:docMk/>
          <pc:sldMk cId="0" sldId="256"/>
        </pc:sldMkLst>
        <pc:spChg chg="mod">
          <ac:chgData name="N Z" userId="817a32b62f5c8f97" providerId="LiveId" clId="{91AFDEF6-9C5C-47EA-88B0-85AC90061651}" dt="2026-04-30T02:42:11.045" v="156" actId="20577"/>
          <ac:spMkLst>
            <pc:docMk/>
            <pc:sldMk cId="0" sldId="256"/>
            <ac:spMk id="5" creationId="{00000000-0000-0000-0000-000000000000}"/>
          </ac:spMkLst>
        </pc:spChg>
      </pc:sldChg>
      <pc:sldChg chg="modSp mod">
        <pc:chgData name="N Z" userId="817a32b62f5c8f97" providerId="LiveId" clId="{91AFDEF6-9C5C-47EA-88B0-85AC90061651}" dt="2026-04-30T02:22:18.993" v="71" actId="1076"/>
        <pc:sldMkLst>
          <pc:docMk/>
          <pc:sldMk cId="0" sldId="258"/>
        </pc:sldMkLst>
        <pc:spChg chg="mod">
          <ac:chgData name="N Z" userId="817a32b62f5c8f97" providerId="LiveId" clId="{91AFDEF6-9C5C-47EA-88B0-85AC90061651}" dt="2026-04-30T02:22:18.993" v="71" actId="1076"/>
          <ac:spMkLst>
            <pc:docMk/>
            <pc:sldMk cId="0" sldId="258"/>
            <ac:spMk id="9" creationId="{00000000-0000-0000-0000-000000000000}"/>
          </ac:spMkLst>
        </pc:spChg>
        <pc:spChg chg="mod">
          <ac:chgData name="N Z" userId="817a32b62f5c8f97" providerId="LiveId" clId="{91AFDEF6-9C5C-47EA-88B0-85AC90061651}" dt="2026-04-30T02:22:13.297" v="70" actId="1076"/>
          <ac:spMkLst>
            <pc:docMk/>
            <pc:sldMk cId="0" sldId="258"/>
            <ac:spMk id="12" creationId="{00000000-0000-0000-0000-000000000000}"/>
          </ac:spMkLst>
        </pc:spChg>
      </pc:sldChg>
      <pc:sldChg chg="modSp mod modNotesTx">
        <pc:chgData name="N Z" userId="817a32b62f5c8f97" providerId="LiveId" clId="{91AFDEF6-9C5C-47EA-88B0-85AC90061651}" dt="2026-04-30T03:07:11.010" v="169" actId="20577"/>
        <pc:sldMkLst>
          <pc:docMk/>
          <pc:sldMk cId="0" sldId="259"/>
        </pc:sldMkLst>
        <pc:spChg chg="mod">
          <ac:chgData name="N Z" userId="817a32b62f5c8f97" providerId="LiveId" clId="{91AFDEF6-9C5C-47EA-88B0-85AC90061651}" dt="2026-04-30T02:25:05.680" v="104" actId="14100"/>
          <ac:spMkLst>
            <pc:docMk/>
            <pc:sldMk cId="0" sldId="259"/>
            <ac:spMk id="13" creationId="{00000000-0000-0000-0000-000000000000}"/>
          </ac:spMkLst>
        </pc:spChg>
      </pc:sldChg>
      <pc:sldChg chg="addSp delSp modSp mod modNotesTx">
        <pc:chgData name="N Z" userId="817a32b62f5c8f97" providerId="LiveId" clId="{91AFDEF6-9C5C-47EA-88B0-85AC90061651}" dt="2026-04-30T03:07:31.376" v="175" actId="20577"/>
        <pc:sldMkLst>
          <pc:docMk/>
          <pc:sldMk cId="0" sldId="260"/>
        </pc:sldMkLst>
        <pc:spChg chg="mod">
          <ac:chgData name="N Z" userId="817a32b62f5c8f97" providerId="LiveId" clId="{91AFDEF6-9C5C-47EA-88B0-85AC90061651}" dt="2026-04-30T02:16:35.863" v="27" actId="1076"/>
          <ac:spMkLst>
            <pc:docMk/>
            <pc:sldMk cId="0" sldId="260"/>
            <ac:spMk id="8" creationId="{00000000-0000-0000-0000-000000000000}"/>
          </ac:spMkLst>
        </pc:spChg>
        <pc:spChg chg="mod">
          <ac:chgData name="N Z" userId="817a32b62f5c8f97" providerId="LiveId" clId="{91AFDEF6-9C5C-47EA-88B0-85AC90061651}" dt="2026-04-30T02:45:59.324" v="160" actId="20577"/>
          <ac:spMkLst>
            <pc:docMk/>
            <pc:sldMk cId="0" sldId="260"/>
            <ac:spMk id="12" creationId="{00000000-0000-0000-0000-000000000000}"/>
          </ac:spMkLst>
        </pc:spChg>
        <pc:picChg chg="del">
          <ac:chgData name="N Z" userId="817a32b62f5c8f97" providerId="LiveId" clId="{91AFDEF6-9C5C-47EA-88B0-85AC90061651}" dt="2026-04-30T02:16:19.274" v="25" actId="478"/>
          <ac:picMkLst>
            <pc:docMk/>
            <pc:sldMk cId="0" sldId="260"/>
            <ac:picMk id="5" creationId="{00000000-0000-0000-0000-000000000000}"/>
          </ac:picMkLst>
        </pc:picChg>
        <pc:picChg chg="add del">
          <ac:chgData name="N Z" userId="817a32b62f5c8f97" providerId="LiveId" clId="{91AFDEF6-9C5C-47EA-88B0-85AC90061651}" dt="2026-04-30T02:16:07.426" v="21" actId="22"/>
          <ac:picMkLst>
            <pc:docMk/>
            <pc:sldMk cId="0" sldId="260"/>
            <ac:picMk id="16" creationId="{B5A46979-2C01-2A3E-CE7A-056130F0D7E0}"/>
          </ac:picMkLst>
        </pc:picChg>
        <pc:picChg chg="add mod">
          <ac:chgData name="N Z" userId="817a32b62f5c8f97" providerId="LiveId" clId="{91AFDEF6-9C5C-47EA-88B0-85AC90061651}" dt="2026-04-30T02:16:26.216" v="26" actId="1076"/>
          <ac:picMkLst>
            <pc:docMk/>
            <pc:sldMk cId="0" sldId="260"/>
            <ac:picMk id="18" creationId="{284F0A9B-E3F7-88FA-004E-1878537A81A8}"/>
          </ac:picMkLst>
        </pc:picChg>
      </pc:sldChg>
      <pc:sldChg chg="modSp mod modNotesTx">
        <pc:chgData name="N Z" userId="817a32b62f5c8f97" providerId="LiveId" clId="{91AFDEF6-9C5C-47EA-88B0-85AC90061651}" dt="2026-04-30T02:18:15.588" v="48" actId="20577"/>
        <pc:sldMkLst>
          <pc:docMk/>
          <pc:sldMk cId="0" sldId="261"/>
        </pc:sldMkLst>
        <pc:spChg chg="mod">
          <ac:chgData name="N Z" userId="817a32b62f5c8f97" providerId="LiveId" clId="{91AFDEF6-9C5C-47EA-88B0-85AC90061651}" dt="2026-04-30T02:08:42.619" v="2" actId="14100"/>
          <ac:spMkLst>
            <pc:docMk/>
            <pc:sldMk cId="0" sldId="261"/>
            <ac:spMk id="4" creationId="{00000000-0000-0000-0000-000000000000}"/>
          </ac:spMkLst>
        </pc:spChg>
        <pc:picChg chg="mod">
          <ac:chgData name="N Z" userId="817a32b62f5c8f97" providerId="LiveId" clId="{91AFDEF6-9C5C-47EA-88B0-85AC90061651}" dt="2026-04-30T02:08:57.628" v="5" actId="14100"/>
          <ac:picMkLst>
            <pc:docMk/>
            <pc:sldMk cId="0" sldId="261"/>
            <ac:picMk id="5" creationId="{00000000-0000-0000-0000-000000000000}"/>
          </ac:picMkLst>
        </pc:picChg>
      </pc:sldChg>
      <pc:sldChg chg="modSp mod">
        <pc:chgData name="N Z" userId="817a32b62f5c8f97" providerId="LiveId" clId="{91AFDEF6-9C5C-47EA-88B0-85AC90061651}" dt="2026-04-30T02:27:49.643" v="110" actId="1076"/>
        <pc:sldMkLst>
          <pc:docMk/>
          <pc:sldMk cId="0" sldId="262"/>
        </pc:sldMkLst>
        <pc:spChg chg="mod">
          <ac:chgData name="N Z" userId="817a32b62f5c8f97" providerId="LiveId" clId="{91AFDEF6-9C5C-47EA-88B0-85AC90061651}" dt="2026-04-30T02:27:44.653" v="109" actId="14100"/>
          <ac:spMkLst>
            <pc:docMk/>
            <pc:sldMk cId="0" sldId="262"/>
            <ac:spMk id="4" creationId="{00000000-0000-0000-0000-000000000000}"/>
          </ac:spMkLst>
        </pc:spChg>
        <pc:spChg chg="mod">
          <ac:chgData name="N Z" userId="817a32b62f5c8f97" providerId="LiveId" clId="{91AFDEF6-9C5C-47EA-88B0-85AC90061651}" dt="2026-04-30T02:27:30.803" v="108" actId="1076"/>
          <ac:spMkLst>
            <pc:docMk/>
            <pc:sldMk cId="0" sldId="262"/>
            <ac:spMk id="8" creationId="{00000000-0000-0000-0000-000000000000}"/>
          </ac:spMkLst>
        </pc:spChg>
        <pc:spChg chg="mod">
          <ac:chgData name="N Z" userId="817a32b62f5c8f97" providerId="LiveId" clId="{91AFDEF6-9C5C-47EA-88B0-85AC90061651}" dt="2026-04-30T02:27:49.643" v="110" actId="1076"/>
          <ac:spMkLst>
            <pc:docMk/>
            <pc:sldMk cId="0" sldId="262"/>
            <ac:spMk id="10" creationId="{00000000-0000-0000-0000-000000000000}"/>
          </ac:spMkLst>
        </pc:spChg>
      </pc:sldChg>
      <pc:sldChg chg="modSp mod modNotesTx">
        <pc:chgData name="N Z" userId="817a32b62f5c8f97" providerId="LiveId" clId="{91AFDEF6-9C5C-47EA-88B0-85AC90061651}" dt="2026-04-30T02:25:49.234" v="106" actId="20577"/>
        <pc:sldMkLst>
          <pc:docMk/>
          <pc:sldMk cId="0" sldId="266"/>
        </pc:sldMkLst>
        <pc:spChg chg="mod">
          <ac:chgData name="N Z" userId="817a32b62f5c8f97" providerId="LiveId" clId="{91AFDEF6-9C5C-47EA-88B0-85AC90061651}" dt="2026-04-30T02:25:49.234" v="106" actId="20577"/>
          <ac:spMkLst>
            <pc:docMk/>
            <pc:sldMk cId="0" sldId="26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5851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I’m presenting Alpha Splice, a direct-manipulation RGBA compositing tool.</a:t>
            </a:r>
          </a:p>
          <a:p>
            <a:endParaRPr lang="en-US" dirty="0"/>
          </a:p>
          <a:p>
            <a:r>
              <a:rPr lang="en-US" dirty="0"/>
              <a:t>The problem I’m trying to solve sounds simple: given two images with alpha, the user draws a region, and the result should use one image inside that region and the other image outside it.</a:t>
            </a:r>
          </a:p>
          <a:p>
            <a:endParaRPr lang="en-US" dirty="0"/>
          </a:p>
          <a:p>
            <a:r>
              <a:rPr lang="en-US" dirty="0"/>
              <a:t>But the important part is that we are not only compositing visible color. We are also preserving alpha as real data.</a:t>
            </a:r>
          </a:p>
          <a:p>
            <a:endParaRPr lang="en-US" dirty="0"/>
          </a:p>
          <a:p>
            <a:r>
              <a:rPr lang="en-US" dirty="0"/>
              <a:t>So the main HCI question is: why does a task that feels simple in the real world become so awkward in tools like Photoshop?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start from a physical analogy: sewing.</a:t>
            </a:r>
          </a:p>
          <a:p>
            <a:endParaRPr lang="en-US" dirty="0"/>
          </a:p>
          <a:p>
            <a:r>
              <a:rPr lang="en-US" dirty="0"/>
              <a:t>In fabric work, a seam naturally divides the surface into two regions. One side belongs to one piece of fabric, and the other side belongs to another piece.</a:t>
            </a:r>
          </a:p>
          <a:p>
            <a:endParaRPr lang="en-US" dirty="0"/>
          </a:p>
          <a:p>
            <a:r>
              <a:rPr lang="en-US" dirty="0"/>
              <a:t>On the left is the original sewing photo. On the right, I added the green overlay. The green is not a real object in the photo. It is just making the implicit region explicit.</a:t>
            </a:r>
          </a:p>
          <a:p>
            <a:endParaRPr lang="en-US" dirty="0"/>
          </a:p>
          <a:p>
            <a:r>
              <a:rPr lang="en-US" dirty="0"/>
              <a:t>Humans understand this immediately. We do not think about layers, channels, or file formats. We just understand that this side of the seam uses one material, and that side uses another material.</a:t>
            </a:r>
          </a:p>
          <a:p>
            <a:endParaRPr lang="en-US" dirty="0"/>
          </a:p>
          <a:p>
            <a:r>
              <a:rPr lang="en-US" dirty="0"/>
              <a:t>That is the mental model I want to preserve in the digital tool.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 we have this sewing intuition: one side of the seam belongs to one fabric, the other side belongs to another.</a:t>
            </a:r>
          </a:p>
          <a:p>
            <a:r>
              <a:rPr lang="en-US" altLang="zh-CN" dirty="0"/>
              <a:t>Now the question is: what does this actually mean when we move from fabric to pixels? What happens at the boundary?</a:t>
            </a:r>
          </a:p>
          <a:p>
            <a:r>
              <a:rPr lang="en-US" altLang="zh-CN" dirty="0"/>
              <a:t>Let's zoom all the way down to one pixel on the green side.</a:t>
            </a:r>
          </a:p>
          <a:p>
            <a:endParaRPr lang="en-US" dirty="0"/>
          </a:p>
          <a:p>
            <a:r>
              <a:rPr lang="en-US" dirty="0"/>
              <a:t>If this pixel is inside the selected green region, then the whole pixel should come from the background image.</a:t>
            </a:r>
          </a:p>
          <a:p>
            <a:endParaRPr lang="en-US" dirty="0"/>
          </a:p>
          <a:p>
            <a:r>
              <a:rPr lang="en-US" dirty="0"/>
              <a:t>That means not only the visible RGB color, but also the alpha value. The final R, G, B, and A should all come from the same source.</a:t>
            </a:r>
          </a:p>
          <a:p>
            <a:endParaRPr lang="en-US" dirty="0"/>
          </a:p>
          <a:p>
            <a:r>
              <a:rPr lang="en-US" dirty="0"/>
              <a:t>If the pixel is outside the selected region, then the whole pixel should come from the foreground image.</a:t>
            </a:r>
          </a:p>
          <a:p>
            <a:endParaRPr lang="en-US" dirty="0"/>
          </a:p>
          <a:p>
            <a:r>
              <a:rPr lang="en-US" dirty="0"/>
              <a:t>So the mask is not just hiding or showing a layer. It is a source selector.</a:t>
            </a:r>
          </a:p>
          <a:p>
            <a:endParaRPr lang="en-US" dirty="0"/>
          </a:p>
          <a:p>
            <a:r>
              <a:rPr lang="en-US" dirty="0"/>
              <a:t>For every pixel, the mask answers one question: which image owns this pixel’s RGBA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trap.</a:t>
            </a:r>
          </a:p>
          <a:p>
            <a:endParaRPr lang="en-US" dirty="0"/>
          </a:p>
          <a:p>
            <a:r>
              <a:rPr lang="en-US" dirty="0"/>
              <a:t>The naive solution is very tempting: put the foreground image on top, put the background below it, and erase a hole from the top layer.</a:t>
            </a:r>
          </a:p>
          <a:p>
            <a:endParaRPr lang="en-US" dirty="0"/>
          </a:p>
          <a:p>
            <a:r>
              <a:rPr lang="en-US" dirty="0"/>
              <a:t>On screen, this can look correct. Inside the hole, </a:t>
            </a:r>
            <a:r>
              <a:rPr lang="en-US" altLang="zh-CN" dirty="0"/>
              <a:t>we</a:t>
            </a:r>
            <a:r>
              <a:rPr lang="en-US" dirty="0"/>
              <a:t> see the background. So visually, the task seems solved.</a:t>
            </a:r>
          </a:p>
          <a:p>
            <a:endParaRPr lang="en-US" dirty="0"/>
          </a:p>
          <a:p>
            <a:r>
              <a:rPr lang="en-US" dirty="0"/>
              <a:t>But for texture authoring, VFX, or game art, visual correctness is not enough. The exported RGBA data also has to be correct.</a:t>
            </a:r>
          </a:p>
          <a:p>
            <a:endParaRPr lang="en-US" dirty="0"/>
          </a:p>
          <a:p>
            <a:r>
              <a:rPr lang="en-US" dirty="0"/>
              <a:t>For example, outside the hole, I may want to preserve the foreground’s original alpha. But if Photoshop treats this as normal layer compositing, the result may become </a:t>
            </a:r>
            <a:r>
              <a:rPr lang="zh-CN" altLang="en-US" dirty="0"/>
              <a:t>“</a:t>
            </a:r>
            <a:r>
              <a:rPr lang="en-US" dirty="0"/>
              <a:t>foreground over background</a:t>
            </a:r>
            <a:r>
              <a:rPr lang="zh-CN" altLang="en-US" dirty="0"/>
              <a:t>”</a:t>
            </a:r>
            <a:r>
              <a:rPr lang="en-US" dirty="0"/>
              <a:t>.</a:t>
            </a:r>
          </a:p>
          <a:p>
            <a:endParaRPr lang="en-US" dirty="0"/>
          </a:p>
          <a:p>
            <a:r>
              <a:rPr lang="en-US" dirty="0"/>
              <a:t>That means the background has already participated in the pixel data. The image may look fine, but the exported alpha is not the alpha we intended.</a:t>
            </a:r>
          </a:p>
          <a:p>
            <a:endParaRPr lang="en-US" dirty="0"/>
          </a:p>
          <a:p>
            <a:r>
              <a:rPr lang="en-US" dirty="0"/>
              <a:t>So the real problem is not just masking. The real problem is RGBA routing.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Photoshop breaks the sewing abstraction.</a:t>
            </a:r>
          </a:p>
          <a:p>
            <a:endParaRPr lang="en-US" dirty="0"/>
          </a:p>
          <a:p>
            <a:r>
              <a:rPr lang="en-US" dirty="0"/>
              <a:t>In the physical sewing task, the pattern and the fabric stay together. When we cut and stitch a piece of fabric, we do not separate its visible pattern from its material backing.</a:t>
            </a:r>
          </a:p>
          <a:p>
            <a:endParaRPr lang="en-US" dirty="0"/>
          </a:p>
          <a:p>
            <a:r>
              <a:rPr lang="en-US" dirty="0"/>
              <a:t>But in Photoshop, these concepts are split.</a:t>
            </a:r>
          </a:p>
          <a:p>
            <a:endParaRPr lang="en-US" dirty="0"/>
          </a:p>
          <a:p>
            <a:r>
              <a:rPr lang="en-US" dirty="0"/>
              <a:t>Layer masks control what we see in the layer stack. That mostly solves the visible RGB problem.</a:t>
            </a:r>
          </a:p>
          <a:p>
            <a:endParaRPr lang="en-US" dirty="0"/>
          </a:p>
          <a:p>
            <a:r>
              <a:rPr lang="en-US" dirty="0"/>
              <a:t>But alpha data lives in a different conceptual space: the Channels panel.</a:t>
            </a:r>
          </a:p>
          <a:p>
            <a:endParaRPr lang="en-US" dirty="0"/>
          </a:p>
          <a:p>
            <a:r>
              <a:rPr lang="en-US" dirty="0"/>
              <a:t>So the user’s intention is simple: use image A on this side, image B on that side.</a:t>
            </a:r>
          </a:p>
          <a:p>
            <a:endParaRPr lang="en-US" dirty="0"/>
          </a:p>
          <a:p>
            <a:r>
              <a:rPr lang="en-US" dirty="0"/>
              <a:t>But Photoshop asks the user to translate that intention into implementation details: layers, masks, selections, channels, extracted alpha, recombined alpha.</a:t>
            </a:r>
          </a:p>
          <a:p>
            <a:endParaRPr lang="en-US" dirty="0"/>
          </a:p>
          <a:p>
            <a:r>
              <a:rPr lang="en-US" dirty="0"/>
              <a:t>That is the gulf of execution. The user has a </a:t>
            </a:r>
            <a:r>
              <a:rPr lang="en-US" altLang="zh-CN" dirty="0"/>
              <a:t>simple </a:t>
            </a:r>
            <a:r>
              <a:rPr lang="en-US" dirty="0"/>
              <a:t>spatial intention, but the tool forces them to think in complex internal representation.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diagram feels confusing, that is exactly the point.</a:t>
            </a:r>
          </a:p>
          <a:p>
            <a:endParaRPr lang="en-US" dirty="0"/>
          </a:p>
          <a:p>
            <a:r>
              <a:rPr lang="en-US" dirty="0"/>
              <a:t>The original user intention is still just one sentence: use image A inside the selected region and image B outside it, while preserving the full RGBA data.</a:t>
            </a:r>
          </a:p>
          <a:p>
            <a:endParaRPr lang="en-US" dirty="0"/>
          </a:p>
          <a:p>
            <a:r>
              <a:rPr lang="en-US" dirty="0"/>
              <a:t>But at the object level, Photoshop spreads that intention across many separate things: A and B layers, A and B alpha channels, selections, inverted selections, a layer mask, temporary alpha copies, a final alpha channel, and the export state.</a:t>
            </a:r>
          </a:p>
          <a:p>
            <a:endParaRPr lang="en-US" dirty="0"/>
          </a:p>
          <a:p>
            <a:r>
              <a:rPr lang="en-US" dirty="0"/>
              <a:t>The </a:t>
            </a:r>
            <a:r>
              <a:rPr lang="en-US" altLang="zh-CN" dirty="0"/>
              <a:t>up</a:t>
            </a:r>
            <a:r>
              <a:rPr lang="en-US" dirty="0"/>
              <a:t> and down lanes show how both source images split into layer objects and alpha objects. The middle objects are the bridge: they keep the RGB path and the alpha path synchronized.</a:t>
            </a:r>
          </a:p>
          <a:p>
            <a:endParaRPr lang="en-US" dirty="0"/>
          </a:p>
          <a:p>
            <a:r>
              <a:rPr lang="en-US" dirty="0"/>
              <a:t>So the burden is not just the number of clicks. The burden is that the user has to coordinate these objects manually before the visible RGB result and the final alpha channel can merge into the exported RGBA image.</a:t>
            </a:r>
          </a:p>
          <a:p>
            <a:endParaRPr lang="en-US" dirty="0"/>
          </a:p>
          <a:p>
            <a:r>
              <a:rPr lang="en-US" dirty="0"/>
              <a:t>That is the abstraction gap Alpha Splice targets.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remember, what I just showed is only the simplest version of the task.</a:t>
            </a:r>
          </a:p>
          <a:p>
            <a:r>
              <a:rPr lang="en-US" dirty="0"/>
              <a:t>So far, I have assumed two images, one clean mask, and a clear decision about which side uses which source.</a:t>
            </a:r>
          </a:p>
          <a:p>
            <a:r>
              <a:rPr lang="en-US" dirty="0"/>
              <a:t>But real texture work is messier. The user may need to align the images, extract a boundary from line art, repair small gaps, flood fill a region, expand or shrink the mask, and verify the alpha channel directly.</a:t>
            </a:r>
          </a:p>
          <a:p>
            <a:r>
              <a:rPr lang="en-US" dirty="0"/>
              <a:t>But even that is not the worst part.</a:t>
            </a:r>
          </a:p>
          <a:p>
            <a:r>
              <a:rPr lang="en-US" dirty="0"/>
              <a:t>The worst part is that design is iterative. The user does not draw the mask once and walk away. They want to try a different boundary, shift the region a few pixels, see what looks better.</a:t>
            </a:r>
          </a:p>
          <a:p>
            <a:r>
              <a:rPr lang="en-US" dirty="0"/>
              <a:t>In Alpha Splice, that is just another brush stroke.</a:t>
            </a:r>
          </a:p>
          <a:p>
            <a:r>
              <a:rPr lang="en-US" dirty="0"/>
              <a:t>In Photoshop, every revision means re-running the entire channel reconstruction. The RGB path and the alpha path are decoupled, so changing one does not automatically update the other. The user has to manually resynchronize them every single time.</a:t>
            </a:r>
          </a:p>
          <a:p>
            <a:r>
              <a:rPr lang="en-US" dirty="0"/>
              <a:t>So the 20-step workflow is not a one-time cost. It is the cost of every creative decision. And a workflow with high marginal cost per iteration does not just slow the user down — it stops them from exploring at all.</a:t>
            </a:r>
          </a:p>
          <a:p>
            <a:r>
              <a:rPr lang="en-US" dirty="0"/>
              <a:t>That is why this matters as an HCI problem. The tool is not just inefficient. It is actively hostile to the way design actually works.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Splice is my attempt to collapse that gulf of execution.</a:t>
            </a:r>
          </a:p>
          <a:p>
            <a:endParaRPr lang="en-US" dirty="0"/>
          </a:p>
          <a:p>
            <a:r>
              <a:rPr lang="en-US" dirty="0"/>
              <a:t>Instead of asking the user to manage layers and channels separately, the tool keeps the interaction spatial.</a:t>
            </a:r>
          </a:p>
          <a:p>
            <a:endParaRPr lang="en-US" dirty="0"/>
          </a:p>
          <a:p>
            <a:r>
              <a:rPr lang="en-US" dirty="0"/>
              <a:t>There are two main steps.</a:t>
            </a:r>
          </a:p>
          <a:p>
            <a:endParaRPr lang="en-US" dirty="0"/>
          </a:p>
          <a:p>
            <a:r>
              <a:rPr lang="en-US" dirty="0"/>
              <a:t>First, the user loads two RGBA images and aligns them. This is like placing two pieces of fabric before sewing.</a:t>
            </a:r>
          </a:p>
          <a:p>
            <a:endParaRPr lang="en-US" dirty="0"/>
          </a:p>
          <a:p>
            <a:r>
              <a:rPr lang="en-US" dirty="0"/>
              <a:t>Second, the user edits the mask. They can paint with a brush, erase, or use Border Fill to create a region from existing boundaries.</a:t>
            </a:r>
          </a:p>
          <a:p>
            <a:endParaRPr lang="en-US" dirty="0"/>
          </a:p>
          <a:p>
            <a:r>
              <a:rPr lang="en-US" dirty="0"/>
              <a:t>The key design decision is this: the user only expresses **where**.</a:t>
            </a:r>
          </a:p>
          <a:p>
            <a:endParaRPr lang="en-US" dirty="0"/>
          </a:p>
          <a:p>
            <a:r>
              <a:rPr lang="en-US" dirty="0"/>
              <a:t>The system handles the RGBA routing internally.</a:t>
            </a:r>
          </a:p>
          <a:p>
            <a:endParaRPr lang="en-US" dirty="0"/>
          </a:p>
          <a:p>
            <a:r>
              <a:rPr lang="en-US" dirty="0"/>
              <a:t>So instead of asking the user to reconstruct alpha manually, Alpha Splice treats the mask as a source selector and computes the correct RGBA result directly.</a:t>
            </a:r>
          </a:p>
          <a:p>
            <a:endParaRPr lang="en-US" dirty="0"/>
          </a:p>
          <a:p>
            <a:r>
              <a:rPr lang="en-US" dirty="0"/>
              <a:t>And because the system handles RGBA routing on every mask change, iteration is free. The user can revise the region as many times as they want, and the result is always correct. There is no resynchronization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this task feels simple in the real world because a seam already carries the right mental model.</a:t>
            </a:r>
          </a:p>
          <a:p>
            <a:endParaRPr lang="en-US" dirty="0"/>
          </a:p>
          <a:p>
            <a:r>
              <a:rPr lang="en-US" dirty="0"/>
              <a:t>One side belongs to one material. The other side belongs to another material. The visible pattern and the material data stay together.</a:t>
            </a:r>
          </a:p>
          <a:p>
            <a:endParaRPr lang="en-US" dirty="0"/>
          </a:p>
          <a:p>
            <a:r>
              <a:rPr lang="en-US" dirty="0"/>
              <a:t>Photoshop breaks that intuition by separating visible RGB from exported alpha.</a:t>
            </a:r>
          </a:p>
          <a:p>
            <a:endParaRPr lang="en-US" dirty="0"/>
          </a:p>
          <a:p>
            <a:r>
              <a:rPr lang="en-US" dirty="0"/>
              <a:t>Alpha Splice restores the right abstraction. </a:t>
            </a:r>
          </a:p>
          <a:p>
            <a:endParaRPr lang="en-US" dirty="0"/>
          </a:p>
          <a:p>
            <a:r>
              <a:rPr lang="en-US" dirty="0"/>
              <a:t>The user draws and revises the region freely, and the system routes RGBA for every pixel, every time. </a:t>
            </a:r>
          </a:p>
          <a:p>
            <a:endParaRPr lang="en-US" dirty="0"/>
          </a:p>
          <a:p>
            <a:r>
              <a:rPr lang="en-US" dirty="0"/>
              <a:t>So the contribution is not only reducing the number of steps. It is turning an implementation-heavy workflow back into a direct manipulation task — one that supports exploration, not just execution.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759800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250921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249344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5712868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864705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034801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405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9599540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531940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480591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5762952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2242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4/30/2026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928699900"/>
      </p:ext>
    </p:extLst>
  </p:cSld>
  <p:clrMap bg1="dk1" tx1="lt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5"/>
        </a:solidFill>
        <a:effectLst/>
      </p:bgPr>
    </p:bg>
    <p:spTree>
      <p:nvGrpSpPr>
        <p:cNvPr id="1" name=""/>
        <p:cNvGrpSpPr/>
        <p:nvPr/>
      </p:nvGrpSpPr>
      <p:grpSpPr>
        <a:xfrm>
          <a:off x="0" y="0"/>
          <a:ext cx="0" cy="0"/>
          <a:chOff x="0" y="0"/>
          <a:chExt cx="0" cy="0"/>
        </a:xfrm>
      </p:grpSpPr>
      <p:pic>
        <p:nvPicPr>
          <p:cNvPr id="2" name="Image 0" descr="/mnt/data/patchwork_title_crop.png"/>
          <p:cNvPicPr>
            <a:picLocks noChangeAspect="1"/>
          </p:cNvPicPr>
          <p:nvPr/>
        </p:nvPicPr>
        <p:blipFill>
          <a:blip r:embed="rId3"/>
          <a:stretch>
            <a:fillRect/>
          </a:stretch>
        </p:blipFill>
        <p:spPr>
          <a:xfrm>
            <a:off x="6583680" y="0"/>
            <a:ext cx="5608015" cy="6858000"/>
          </a:xfrm>
          <a:prstGeom prst="rect">
            <a:avLst/>
          </a:prstGeom>
        </p:spPr>
      </p:pic>
      <p:sp>
        <p:nvSpPr>
          <p:cNvPr id="3" name="Text 0"/>
          <p:cNvSpPr/>
          <p:nvPr/>
        </p:nvSpPr>
        <p:spPr>
          <a:xfrm>
            <a:off x="640080" y="1325880"/>
            <a:ext cx="5212080" cy="685800"/>
          </a:xfrm>
          <a:prstGeom prst="rect">
            <a:avLst/>
          </a:prstGeom>
          <a:noFill/>
          <a:ln/>
        </p:spPr>
        <p:txBody>
          <a:bodyPr wrap="square" lIns="0" tIns="0" rIns="0" bIns="0" rtlCol="0" anchor="ctr"/>
          <a:lstStyle/>
          <a:p>
            <a:pPr marL="0" indent="0">
              <a:buNone/>
            </a:pPr>
            <a:r>
              <a:rPr lang="en-US" sz="2600" b="1" dirty="0">
                <a:solidFill>
                  <a:srgbClr val="5AA2FF"/>
                </a:solidFill>
                <a:latin typeface="Aptos Display" pitchFamily="34" charset="0"/>
                <a:ea typeface="Aptos Display" pitchFamily="34" charset="-122"/>
                <a:cs typeface="Aptos Display" pitchFamily="34" charset="-120"/>
              </a:rPr>
              <a:t>Alpha Splice</a:t>
            </a:r>
            <a:endParaRPr lang="en-US" sz="2600" dirty="0"/>
          </a:p>
        </p:txBody>
      </p:sp>
      <p:sp>
        <p:nvSpPr>
          <p:cNvPr id="4" name="Text 1"/>
          <p:cNvSpPr/>
          <p:nvPr/>
        </p:nvSpPr>
        <p:spPr>
          <a:xfrm>
            <a:off x="640080" y="2084832"/>
            <a:ext cx="5394960" cy="1097280"/>
          </a:xfrm>
          <a:prstGeom prst="rect">
            <a:avLst/>
          </a:prstGeom>
          <a:noFill/>
          <a:ln/>
        </p:spPr>
        <p:txBody>
          <a:bodyPr wrap="square" lIns="0" tIns="0" rIns="0" bIns="0" rtlCol="0" anchor="ctr"/>
          <a:lstStyle/>
          <a:p>
            <a:pPr marL="0" indent="0">
              <a:buNone/>
            </a:pPr>
            <a:r>
              <a:rPr lang="en-US" sz="2400" b="1" dirty="0">
                <a:solidFill>
                  <a:srgbClr val="E8ECF3"/>
                </a:solidFill>
                <a:latin typeface="Aptos Display" pitchFamily="34" charset="0"/>
                <a:ea typeface="Aptos Display" pitchFamily="34" charset="-122"/>
                <a:cs typeface="Aptos Display" pitchFamily="34" charset="-120"/>
              </a:rPr>
              <a:t>Restoring a sewing mental model</a:t>
            </a:r>
            <a:endParaRPr lang="en-US" sz="2400" dirty="0"/>
          </a:p>
          <a:p>
            <a:pPr marL="0" indent="0">
              <a:buNone/>
            </a:pPr>
            <a:r>
              <a:rPr lang="en-US" sz="2400" b="1" dirty="0">
                <a:solidFill>
                  <a:srgbClr val="E8ECF3"/>
                </a:solidFill>
                <a:latin typeface="Aptos Display" pitchFamily="34" charset="0"/>
                <a:ea typeface="Aptos Display" pitchFamily="34" charset="-122"/>
                <a:cs typeface="Aptos Display" pitchFamily="34" charset="-120"/>
              </a:rPr>
              <a:t>for RGBA compositing</a:t>
            </a:r>
            <a:endParaRPr lang="en-US" sz="2400" dirty="0"/>
          </a:p>
        </p:txBody>
      </p:sp>
      <p:sp>
        <p:nvSpPr>
          <p:cNvPr id="5" name="Text 2"/>
          <p:cNvSpPr/>
          <p:nvPr/>
        </p:nvSpPr>
        <p:spPr>
          <a:xfrm>
            <a:off x="658368" y="3383280"/>
            <a:ext cx="4389120" cy="640080"/>
          </a:xfrm>
          <a:prstGeom prst="rect">
            <a:avLst/>
          </a:prstGeom>
          <a:noFill/>
          <a:ln/>
        </p:spPr>
        <p:txBody>
          <a:bodyPr wrap="square" lIns="0" tIns="0" rIns="0" bIns="0" rtlCol="0" anchor="ctr"/>
          <a:lstStyle/>
          <a:p>
            <a:pPr marL="0" indent="0">
              <a:buNone/>
            </a:pPr>
            <a:r>
              <a:rPr lang="en-US" sz="1500" dirty="0">
                <a:solidFill>
                  <a:srgbClr val="AAB3C2"/>
                </a:solidFill>
                <a:latin typeface="Aptos" pitchFamily="34" charset="0"/>
                <a:ea typeface="Aptos" pitchFamily="34" charset="-122"/>
                <a:cs typeface="Aptos" pitchFamily="34" charset="-120"/>
              </a:rPr>
              <a:t>Human-Computer Interaction </a:t>
            </a:r>
            <a:endParaRPr lang="en-US" sz="1500" dirty="0"/>
          </a:p>
        </p:txBody>
      </p:sp>
      <p:sp>
        <p:nvSpPr>
          <p:cNvPr id="6" name="Shape 3"/>
          <p:cNvSpPr/>
          <p:nvPr/>
        </p:nvSpPr>
        <p:spPr>
          <a:xfrm>
            <a:off x="658368" y="4206240"/>
            <a:ext cx="2011680" cy="0"/>
          </a:xfrm>
          <a:prstGeom prst="line">
            <a:avLst/>
          </a:prstGeom>
          <a:noFill/>
          <a:ln w="12700">
            <a:solidFill>
              <a:srgbClr val="57C17B"/>
            </a:solidFill>
            <a:prstDash val="solid"/>
          </a:ln>
        </p:spPr>
        <p:txBody>
          <a:bodyPr/>
          <a:lstStyle/>
          <a:p>
            <a:endParaRPr lang="zh-CN" altLang="en-US"/>
          </a:p>
        </p:txBody>
      </p:sp>
      <p:sp>
        <p:nvSpPr>
          <p:cNvPr id="7" name="Text 4"/>
          <p:cNvSpPr/>
          <p:nvPr/>
        </p:nvSpPr>
        <p:spPr>
          <a:xfrm>
            <a:off x="658368" y="4407408"/>
            <a:ext cx="5303520" cy="1097280"/>
          </a:xfrm>
          <a:prstGeom prst="rect">
            <a:avLst/>
          </a:prstGeom>
          <a:noFill/>
          <a:ln/>
        </p:spPr>
        <p:txBody>
          <a:bodyPr wrap="square" lIns="0" tIns="0" rIns="0" bIns="0" rtlCol="0" anchor="ctr"/>
          <a:lstStyle/>
          <a:p>
            <a:pPr marL="0" indent="0">
              <a:buNone/>
            </a:pPr>
            <a:r>
              <a:rPr lang="en-US" sz="1700" dirty="0">
                <a:solidFill>
                  <a:srgbClr val="E8ECF3"/>
                </a:solidFill>
                <a:latin typeface="Aptos" pitchFamily="34" charset="0"/>
                <a:ea typeface="Aptos" pitchFamily="34" charset="-122"/>
                <a:cs typeface="Aptos" pitchFamily="34" charset="-120"/>
              </a:rPr>
              <a:t>A direct-manipulation tool that treats a mask as a source selector — not just a visibility mask.</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38912"/>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Real-world intuition: stitch along a seam</a:t>
            </a:r>
            <a:endParaRPr lang="en-US" sz="2800" dirty="0"/>
          </a:p>
        </p:txBody>
      </p:sp>
      <p:sp>
        <p:nvSpPr>
          <p:cNvPr id="3" name="Text 1"/>
          <p:cNvSpPr/>
          <p:nvPr/>
        </p:nvSpPr>
        <p:spPr>
          <a:xfrm>
            <a:off x="548640" y="804672"/>
            <a:ext cx="10881360" cy="329184"/>
          </a:xfrm>
          <a:prstGeom prst="rect">
            <a:avLst/>
          </a:prstGeom>
          <a:noFill/>
          <a:ln/>
        </p:spPr>
        <p:txBody>
          <a:bodyPr wrap="square" lIns="0" tIns="0" rIns="0" bIns="0" rtlCol="0" anchor="ctr"/>
          <a:lstStyle/>
          <a:p>
            <a:pPr marL="0" indent="0">
              <a:buNone/>
            </a:pPr>
            <a:r>
              <a:rPr lang="en-US" sz="1450" dirty="0">
                <a:solidFill>
                  <a:srgbClr val="AAB3C2"/>
                </a:solidFill>
                <a:latin typeface="Aptos" pitchFamily="34" charset="0"/>
                <a:ea typeface="Aptos" pitchFamily="34" charset="-122"/>
                <a:cs typeface="Aptos" pitchFamily="34" charset="-120"/>
              </a:rPr>
              <a:t>In fabric work, a boundary naturally divides the surface into two regions.</a:t>
            </a:r>
            <a:endParaRPr lang="en-US" sz="1450" dirty="0"/>
          </a:p>
        </p:txBody>
      </p:sp>
      <p:sp>
        <p:nvSpPr>
          <p:cNvPr id="4" name="Shape 2"/>
          <p:cNvSpPr/>
          <p:nvPr/>
        </p:nvSpPr>
        <p:spPr>
          <a:xfrm>
            <a:off x="530352" y="1261872"/>
            <a:ext cx="5623560" cy="4983480"/>
          </a:xfrm>
          <a:prstGeom prst="roundRect">
            <a:avLst>
              <a:gd name="adj" fmla="val 1468"/>
            </a:avLst>
          </a:prstGeom>
          <a:solidFill>
            <a:srgbClr val="181C23"/>
          </a:solidFill>
          <a:ln w="12700">
            <a:solidFill>
              <a:srgbClr val="313845"/>
            </a:solidFill>
            <a:prstDash val="solid"/>
          </a:ln>
        </p:spPr>
        <p:txBody>
          <a:bodyPr/>
          <a:lstStyle/>
          <a:p>
            <a:endParaRPr lang="zh-CN" altLang="en-US"/>
          </a:p>
        </p:txBody>
      </p:sp>
      <p:sp>
        <p:nvSpPr>
          <p:cNvPr id="5" name="Shape 3"/>
          <p:cNvSpPr/>
          <p:nvPr/>
        </p:nvSpPr>
        <p:spPr>
          <a:xfrm>
            <a:off x="6355080" y="1261872"/>
            <a:ext cx="5303520" cy="4983480"/>
          </a:xfrm>
          <a:prstGeom prst="roundRect">
            <a:avLst>
              <a:gd name="adj" fmla="val 1468"/>
            </a:avLst>
          </a:prstGeom>
          <a:solidFill>
            <a:srgbClr val="181C23"/>
          </a:solidFill>
          <a:ln w="12700">
            <a:solidFill>
              <a:srgbClr val="313845"/>
            </a:solidFill>
            <a:prstDash val="solid"/>
          </a:ln>
        </p:spPr>
        <p:txBody>
          <a:bodyPr/>
          <a:lstStyle/>
          <a:p>
            <a:endParaRPr lang="zh-CN" altLang="en-US"/>
          </a:p>
        </p:txBody>
      </p:sp>
      <p:pic>
        <p:nvPicPr>
          <p:cNvPr id="6" name="Image 0" descr="/mnt/data/缝纫例子3.jpg"/>
          <p:cNvPicPr>
            <a:picLocks noChangeAspect="1"/>
          </p:cNvPicPr>
          <p:nvPr/>
        </p:nvPicPr>
        <p:blipFill>
          <a:blip r:embed="rId3"/>
          <a:srcRect l="9236" r="9236"/>
          <a:stretch/>
        </p:blipFill>
        <p:spPr>
          <a:xfrm>
            <a:off x="658368" y="1389888"/>
            <a:ext cx="5367528" cy="3703320"/>
          </a:xfrm>
          <a:prstGeom prst="rect">
            <a:avLst/>
          </a:prstGeom>
        </p:spPr>
      </p:pic>
      <p:sp>
        <p:nvSpPr>
          <p:cNvPr id="7" name="Text 4"/>
          <p:cNvSpPr/>
          <p:nvPr/>
        </p:nvSpPr>
        <p:spPr>
          <a:xfrm>
            <a:off x="822960" y="5266944"/>
            <a:ext cx="2011680" cy="228600"/>
          </a:xfrm>
          <a:prstGeom prst="rect">
            <a:avLst/>
          </a:prstGeom>
          <a:noFill/>
          <a:ln/>
        </p:spPr>
        <p:txBody>
          <a:bodyPr wrap="square" lIns="0" tIns="0" rIns="0" bIns="0" rtlCol="0" anchor="ctr"/>
          <a:lstStyle/>
          <a:p>
            <a:pPr marL="0" indent="0">
              <a:buNone/>
            </a:pPr>
            <a:r>
              <a:rPr lang="en-US" sz="1200" dirty="0">
                <a:solidFill>
                  <a:srgbClr val="AAB3C2"/>
                </a:solidFill>
              </a:rPr>
              <a:t>Original sewing photo</a:t>
            </a:r>
            <a:endParaRPr lang="en-US" sz="1200" dirty="0"/>
          </a:p>
        </p:txBody>
      </p:sp>
      <p:pic>
        <p:nvPicPr>
          <p:cNvPr id="8" name="Image 1" descr="/mnt/data/缝纫例子3-填色.png"/>
          <p:cNvPicPr>
            <a:picLocks noChangeAspect="1"/>
          </p:cNvPicPr>
          <p:nvPr/>
        </p:nvPicPr>
        <p:blipFill>
          <a:blip r:embed="rId4"/>
          <a:srcRect l="11806" r="11806"/>
          <a:stretch/>
        </p:blipFill>
        <p:spPr>
          <a:xfrm>
            <a:off x="6492240" y="1389888"/>
            <a:ext cx="5029200" cy="3703320"/>
          </a:xfrm>
          <a:prstGeom prst="rect">
            <a:avLst/>
          </a:prstGeom>
        </p:spPr>
      </p:pic>
      <p:sp>
        <p:nvSpPr>
          <p:cNvPr id="9" name="Text 5"/>
          <p:cNvSpPr/>
          <p:nvPr/>
        </p:nvSpPr>
        <p:spPr>
          <a:xfrm>
            <a:off x="6656832" y="5266944"/>
            <a:ext cx="2468880" cy="228600"/>
          </a:xfrm>
          <a:prstGeom prst="rect">
            <a:avLst/>
          </a:prstGeom>
          <a:noFill/>
          <a:ln/>
        </p:spPr>
        <p:txBody>
          <a:bodyPr wrap="square" lIns="0" tIns="0" rIns="0" bIns="0" rtlCol="0" anchor="ctr"/>
          <a:lstStyle/>
          <a:p>
            <a:pPr marL="0" indent="0">
              <a:buNone/>
            </a:pPr>
            <a:r>
              <a:rPr lang="en-US" sz="1200" dirty="0">
                <a:solidFill>
                  <a:srgbClr val="AAB3C2"/>
                </a:solidFill>
              </a:rPr>
              <a:t>Same photo with a region highlighted</a:t>
            </a:r>
            <a:endParaRPr lang="en-US" sz="1200" dirty="0"/>
          </a:p>
        </p:txBody>
      </p:sp>
      <p:sp>
        <p:nvSpPr>
          <p:cNvPr id="10" name="Text 6"/>
          <p:cNvSpPr/>
          <p:nvPr/>
        </p:nvSpPr>
        <p:spPr>
          <a:xfrm>
            <a:off x="804672" y="5623560"/>
            <a:ext cx="4480560" cy="457200"/>
          </a:xfrm>
          <a:prstGeom prst="rect">
            <a:avLst/>
          </a:prstGeom>
          <a:noFill/>
          <a:ln/>
        </p:spPr>
        <p:txBody>
          <a:bodyPr wrap="square" lIns="0" tIns="0" rIns="0" bIns="0" rtlCol="0" anchor="ctr"/>
          <a:lstStyle/>
          <a:p>
            <a:pPr marL="0" indent="0">
              <a:buNone/>
            </a:pPr>
            <a:r>
              <a:rPr lang="en-US" sz="1800" b="1" dirty="0">
                <a:solidFill>
                  <a:srgbClr val="E8ECF3"/>
                </a:solidFill>
              </a:rPr>
              <a:t>One side of the seam uses one fabric.</a:t>
            </a:r>
            <a:endParaRPr lang="en-US" sz="1800" dirty="0"/>
          </a:p>
          <a:p>
            <a:pPr marL="0" indent="0">
              <a:buNone/>
            </a:pPr>
            <a:r>
              <a:rPr lang="en-US" sz="1800" b="1" dirty="0">
                <a:solidFill>
                  <a:srgbClr val="E8ECF3"/>
                </a:solidFill>
              </a:rPr>
              <a:t>The other side uses another fabric.</a:t>
            </a:r>
            <a:endParaRPr lang="en-US" sz="1800" dirty="0"/>
          </a:p>
        </p:txBody>
      </p:sp>
      <p:sp>
        <p:nvSpPr>
          <p:cNvPr id="11" name="Text 7"/>
          <p:cNvSpPr/>
          <p:nvPr/>
        </p:nvSpPr>
        <p:spPr>
          <a:xfrm>
            <a:off x="6638544" y="5577840"/>
            <a:ext cx="4480560" cy="566928"/>
          </a:xfrm>
          <a:prstGeom prst="rect">
            <a:avLst/>
          </a:prstGeom>
          <a:noFill/>
          <a:ln/>
        </p:spPr>
        <p:txBody>
          <a:bodyPr wrap="square" lIns="0" tIns="0" rIns="0" bIns="0" rtlCol="0" anchor="ctr"/>
          <a:lstStyle/>
          <a:p>
            <a:pPr marL="0" indent="0">
              <a:buNone/>
            </a:pPr>
            <a:r>
              <a:rPr lang="en-US" sz="1600" dirty="0">
                <a:solidFill>
                  <a:srgbClr val="E8ECF3"/>
                </a:solidFill>
              </a:rPr>
              <a:t>The green overlay is not a real object. It just makes the implicit region explicit — the digital equivalent of a mask.</a:t>
            </a:r>
            <a:endParaRPr lang="en-US" sz="1600" dirty="0"/>
          </a:p>
        </p:txBody>
      </p:sp>
      <p:sp>
        <p:nvSpPr>
          <p:cNvPr id="12" name="Text 8"/>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Start from a physical task people already understand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11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38912"/>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Zoom into one pixel on the green side</a:t>
            </a:r>
            <a:endParaRPr lang="en-US" sz="2800" dirty="0"/>
          </a:p>
        </p:txBody>
      </p:sp>
      <p:sp>
        <p:nvSpPr>
          <p:cNvPr id="3" name="Text 1"/>
          <p:cNvSpPr/>
          <p:nvPr/>
        </p:nvSpPr>
        <p:spPr>
          <a:xfrm>
            <a:off x="548640" y="804672"/>
            <a:ext cx="10881360" cy="329184"/>
          </a:xfrm>
          <a:prstGeom prst="rect">
            <a:avLst/>
          </a:prstGeom>
          <a:noFill/>
          <a:ln/>
        </p:spPr>
        <p:txBody>
          <a:bodyPr wrap="square" lIns="0" tIns="0" rIns="0" bIns="0" rtlCol="0" anchor="ctr"/>
          <a:lstStyle/>
          <a:p>
            <a:pPr marL="0" indent="0">
              <a:buNone/>
            </a:pPr>
            <a:r>
              <a:rPr lang="en-US" sz="1450" dirty="0">
                <a:solidFill>
                  <a:srgbClr val="AAB3C2"/>
                </a:solidFill>
                <a:latin typeface="Aptos" pitchFamily="34" charset="0"/>
                <a:ea typeface="Aptos" pitchFamily="34" charset="-122"/>
                <a:cs typeface="Aptos" pitchFamily="34" charset="-120"/>
              </a:rPr>
              <a:t>The seam is not just hiding and showing. It decides which image owns each pixel.</a:t>
            </a:r>
            <a:endParaRPr lang="en-US" sz="1450" dirty="0"/>
          </a:p>
        </p:txBody>
      </p:sp>
      <p:sp>
        <p:nvSpPr>
          <p:cNvPr id="4" name="Shape 2"/>
          <p:cNvSpPr/>
          <p:nvPr/>
        </p:nvSpPr>
        <p:spPr>
          <a:xfrm>
            <a:off x="530352" y="1280160"/>
            <a:ext cx="4754880" cy="4937760"/>
          </a:xfrm>
          <a:prstGeom prst="roundRect">
            <a:avLst>
              <a:gd name="adj" fmla="val 1538"/>
            </a:avLst>
          </a:prstGeom>
          <a:solidFill>
            <a:srgbClr val="181C23"/>
          </a:solidFill>
          <a:ln w="12700">
            <a:solidFill>
              <a:srgbClr val="313845"/>
            </a:solidFill>
            <a:prstDash val="solid"/>
          </a:ln>
        </p:spPr>
        <p:txBody>
          <a:bodyPr/>
          <a:lstStyle/>
          <a:p>
            <a:endParaRPr lang="zh-CN" altLang="en-US"/>
          </a:p>
        </p:txBody>
      </p:sp>
      <p:pic>
        <p:nvPicPr>
          <p:cNvPr id="5" name="Image 0" descr="/mnt/data/crop1.png"/>
          <p:cNvPicPr>
            <a:picLocks noChangeAspect="1"/>
          </p:cNvPicPr>
          <p:nvPr/>
        </p:nvPicPr>
        <p:blipFill>
          <a:blip r:embed="rId3"/>
          <a:stretch>
            <a:fillRect/>
          </a:stretch>
        </p:blipFill>
        <p:spPr>
          <a:xfrm>
            <a:off x="713232" y="2040636"/>
            <a:ext cx="4389120" cy="3316224"/>
          </a:xfrm>
          <a:prstGeom prst="rect">
            <a:avLst/>
          </a:prstGeom>
        </p:spPr>
      </p:pic>
      <p:sp>
        <p:nvSpPr>
          <p:cNvPr id="6" name="Text 3"/>
          <p:cNvSpPr/>
          <p:nvPr/>
        </p:nvSpPr>
        <p:spPr>
          <a:xfrm>
            <a:off x="914400" y="5559552"/>
            <a:ext cx="2286000" cy="182880"/>
          </a:xfrm>
          <a:prstGeom prst="rect">
            <a:avLst/>
          </a:prstGeom>
          <a:noFill/>
          <a:ln/>
        </p:spPr>
        <p:txBody>
          <a:bodyPr wrap="square" lIns="0" tIns="0" rIns="0" bIns="0" rtlCol="0" anchor="ctr"/>
          <a:lstStyle/>
          <a:p>
            <a:pPr marL="0" indent="0" algn="ctr">
              <a:buNone/>
            </a:pPr>
            <a:r>
              <a:rPr lang="en-US" sz="1200" dirty="0">
                <a:solidFill>
                  <a:srgbClr val="AAB3C2"/>
                </a:solidFill>
              </a:rPr>
              <a:t>Highlighted seam region</a:t>
            </a:r>
            <a:endParaRPr lang="en-US" sz="1200" dirty="0"/>
          </a:p>
        </p:txBody>
      </p:sp>
      <p:sp>
        <p:nvSpPr>
          <p:cNvPr id="7" name="Shape 4"/>
          <p:cNvSpPr/>
          <p:nvPr/>
        </p:nvSpPr>
        <p:spPr>
          <a:xfrm>
            <a:off x="5504688" y="1280160"/>
            <a:ext cx="6153912" cy="1847088"/>
          </a:xfrm>
          <a:prstGeom prst="roundRect">
            <a:avLst>
              <a:gd name="adj" fmla="val 3960"/>
            </a:avLst>
          </a:prstGeom>
          <a:solidFill>
            <a:srgbClr val="202632"/>
          </a:solidFill>
          <a:ln w="12700">
            <a:solidFill>
              <a:srgbClr val="313845"/>
            </a:solidFill>
            <a:prstDash val="solid"/>
          </a:ln>
        </p:spPr>
        <p:txBody>
          <a:bodyPr/>
          <a:lstStyle/>
          <a:p>
            <a:endParaRPr lang="zh-CN" altLang="en-US"/>
          </a:p>
        </p:txBody>
      </p:sp>
      <p:sp>
        <p:nvSpPr>
          <p:cNvPr id="8" name="Text 5"/>
          <p:cNvSpPr/>
          <p:nvPr/>
        </p:nvSpPr>
        <p:spPr>
          <a:xfrm>
            <a:off x="5806440" y="1581912"/>
            <a:ext cx="3154680" cy="228600"/>
          </a:xfrm>
          <a:prstGeom prst="rect">
            <a:avLst/>
          </a:prstGeom>
          <a:noFill/>
          <a:ln/>
        </p:spPr>
        <p:txBody>
          <a:bodyPr wrap="square" lIns="0" tIns="0" rIns="0" bIns="0" rtlCol="0" anchor="ctr"/>
          <a:lstStyle/>
          <a:p>
            <a:pPr marL="0" indent="0">
              <a:buNone/>
            </a:pPr>
            <a:r>
              <a:rPr lang="en-US" sz="1900" b="1" dirty="0">
                <a:solidFill>
                  <a:srgbClr val="E8ECF3"/>
                </a:solidFill>
              </a:rPr>
              <a:t>If a pixel is inside the selected region:</a:t>
            </a:r>
            <a:endParaRPr lang="en-US" sz="1900" dirty="0"/>
          </a:p>
        </p:txBody>
      </p:sp>
      <p:sp>
        <p:nvSpPr>
          <p:cNvPr id="9" name="Text 6"/>
          <p:cNvSpPr/>
          <p:nvPr/>
        </p:nvSpPr>
        <p:spPr>
          <a:xfrm>
            <a:off x="5806439" y="2217420"/>
            <a:ext cx="5143063" cy="320040"/>
          </a:xfrm>
          <a:prstGeom prst="rect">
            <a:avLst/>
          </a:prstGeom>
          <a:noFill/>
          <a:ln/>
        </p:spPr>
        <p:txBody>
          <a:bodyPr wrap="square" lIns="0" tIns="0" rIns="0" bIns="0" rtlCol="0" anchor="ctr"/>
          <a:lstStyle/>
          <a:p>
            <a:pPr marL="0" indent="0">
              <a:buNone/>
            </a:pPr>
            <a:r>
              <a:rPr lang="en-US" sz="2400" b="1" dirty="0">
                <a:solidFill>
                  <a:srgbClr val="57C17B"/>
                </a:solidFill>
              </a:rPr>
              <a:t>Final pixel = Background RGBA</a:t>
            </a:r>
            <a:endParaRPr lang="en-US" sz="2400" dirty="0"/>
          </a:p>
        </p:txBody>
      </p:sp>
      <p:sp>
        <p:nvSpPr>
          <p:cNvPr id="10" name="Shape 7"/>
          <p:cNvSpPr/>
          <p:nvPr/>
        </p:nvSpPr>
        <p:spPr>
          <a:xfrm>
            <a:off x="5504688" y="3383280"/>
            <a:ext cx="6153912" cy="1847088"/>
          </a:xfrm>
          <a:prstGeom prst="roundRect">
            <a:avLst>
              <a:gd name="adj" fmla="val 3960"/>
            </a:avLst>
          </a:prstGeom>
          <a:solidFill>
            <a:srgbClr val="202632"/>
          </a:solidFill>
          <a:ln w="12700">
            <a:solidFill>
              <a:srgbClr val="313845"/>
            </a:solidFill>
            <a:prstDash val="solid"/>
          </a:ln>
        </p:spPr>
        <p:txBody>
          <a:bodyPr/>
          <a:lstStyle/>
          <a:p>
            <a:endParaRPr lang="zh-CN" altLang="en-US"/>
          </a:p>
        </p:txBody>
      </p:sp>
      <p:sp>
        <p:nvSpPr>
          <p:cNvPr id="11" name="Text 8"/>
          <p:cNvSpPr/>
          <p:nvPr/>
        </p:nvSpPr>
        <p:spPr>
          <a:xfrm>
            <a:off x="5806440" y="3685032"/>
            <a:ext cx="3383280" cy="228600"/>
          </a:xfrm>
          <a:prstGeom prst="rect">
            <a:avLst/>
          </a:prstGeom>
          <a:noFill/>
          <a:ln/>
        </p:spPr>
        <p:txBody>
          <a:bodyPr wrap="square" lIns="0" tIns="0" rIns="0" bIns="0" rtlCol="0" anchor="ctr"/>
          <a:lstStyle/>
          <a:p>
            <a:pPr marL="0" indent="0">
              <a:buNone/>
            </a:pPr>
            <a:r>
              <a:rPr lang="en-US" sz="1900" b="1" dirty="0">
                <a:solidFill>
                  <a:srgbClr val="E8ECF3"/>
                </a:solidFill>
              </a:rPr>
              <a:t>If a pixel is outside the selected region:</a:t>
            </a:r>
            <a:endParaRPr lang="en-US" sz="1900" dirty="0"/>
          </a:p>
        </p:txBody>
      </p:sp>
      <p:sp>
        <p:nvSpPr>
          <p:cNvPr id="12" name="Text 9"/>
          <p:cNvSpPr/>
          <p:nvPr/>
        </p:nvSpPr>
        <p:spPr>
          <a:xfrm>
            <a:off x="5806439" y="4306824"/>
            <a:ext cx="5014931" cy="320040"/>
          </a:xfrm>
          <a:prstGeom prst="rect">
            <a:avLst/>
          </a:prstGeom>
          <a:noFill/>
          <a:ln/>
        </p:spPr>
        <p:txBody>
          <a:bodyPr wrap="square" lIns="0" tIns="0" rIns="0" bIns="0" rtlCol="0" anchor="ctr"/>
          <a:lstStyle/>
          <a:p>
            <a:pPr marL="0" indent="0">
              <a:buNone/>
            </a:pPr>
            <a:r>
              <a:rPr lang="en-US" sz="2400" b="1" dirty="0">
                <a:solidFill>
                  <a:srgbClr val="5AA2FF"/>
                </a:solidFill>
              </a:rPr>
              <a:t>Final pixel = Foreground RGBA</a:t>
            </a:r>
            <a:endParaRPr lang="en-US" sz="2400" dirty="0"/>
          </a:p>
        </p:txBody>
      </p:sp>
      <p:sp>
        <p:nvSpPr>
          <p:cNvPr id="13" name="Shape 10"/>
          <p:cNvSpPr/>
          <p:nvPr/>
        </p:nvSpPr>
        <p:spPr>
          <a:xfrm>
            <a:off x="5806440" y="5650992"/>
            <a:ext cx="5303520" cy="0"/>
          </a:xfrm>
          <a:prstGeom prst="line">
            <a:avLst/>
          </a:prstGeom>
          <a:noFill/>
          <a:ln w="12700">
            <a:solidFill>
              <a:srgbClr val="F1B75A"/>
            </a:solidFill>
            <a:prstDash val="solid"/>
          </a:ln>
        </p:spPr>
        <p:txBody>
          <a:bodyPr/>
          <a:lstStyle/>
          <a:p>
            <a:endParaRPr lang="zh-CN" altLang="en-US"/>
          </a:p>
        </p:txBody>
      </p:sp>
      <p:sp>
        <p:nvSpPr>
          <p:cNvPr id="14" name="Text 11"/>
          <p:cNvSpPr/>
          <p:nvPr/>
        </p:nvSpPr>
        <p:spPr>
          <a:xfrm>
            <a:off x="5806440" y="5779008"/>
            <a:ext cx="5212080" cy="256032"/>
          </a:xfrm>
          <a:prstGeom prst="rect">
            <a:avLst/>
          </a:prstGeom>
          <a:noFill/>
          <a:ln/>
        </p:spPr>
        <p:txBody>
          <a:bodyPr wrap="square" lIns="0" tIns="0" rIns="0" bIns="0" rtlCol="0" anchor="ctr"/>
          <a:lstStyle/>
          <a:p>
            <a:pPr marL="0" indent="0">
              <a:buNone/>
            </a:pPr>
            <a:r>
              <a:rPr lang="en-US" sz="1800" b="1" dirty="0">
                <a:solidFill>
                  <a:srgbClr val="F1B75A"/>
                </a:solidFill>
              </a:rPr>
              <a:t>So the mask is a source selector, not just a visibility mask.</a:t>
            </a:r>
            <a:endParaRPr lang="en-US" sz="1800" dirty="0"/>
          </a:p>
        </p:txBody>
      </p:sp>
      <p:sp>
        <p:nvSpPr>
          <p:cNvPr id="15" name="Text 12"/>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One-pixel view: the whole RGBA tuple must come from one source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38912"/>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The trap: visual correctness is not data correctness</a:t>
            </a:r>
            <a:endParaRPr lang="en-US" sz="2800" dirty="0"/>
          </a:p>
        </p:txBody>
      </p:sp>
      <p:sp>
        <p:nvSpPr>
          <p:cNvPr id="3" name="Text 1"/>
          <p:cNvSpPr/>
          <p:nvPr/>
        </p:nvSpPr>
        <p:spPr>
          <a:xfrm>
            <a:off x="548640" y="804672"/>
            <a:ext cx="10881360" cy="329184"/>
          </a:xfrm>
          <a:prstGeom prst="rect">
            <a:avLst/>
          </a:prstGeom>
          <a:noFill/>
          <a:ln/>
        </p:spPr>
        <p:txBody>
          <a:bodyPr wrap="square" lIns="0" tIns="0" rIns="0" bIns="0" rtlCol="0" anchor="ctr"/>
          <a:lstStyle/>
          <a:p>
            <a:pPr marL="0" indent="0">
              <a:buNone/>
            </a:pPr>
            <a:r>
              <a:rPr lang="en-US" sz="1450" dirty="0">
                <a:solidFill>
                  <a:srgbClr val="AAB3C2"/>
                </a:solidFill>
                <a:latin typeface="Aptos" pitchFamily="34" charset="0"/>
                <a:ea typeface="Aptos" pitchFamily="34" charset="-122"/>
                <a:cs typeface="Aptos" pitchFamily="34" charset="-120"/>
              </a:rPr>
              <a:t>A normal top-layer cutout can look right on screen while exporting the wrong RGBA data.</a:t>
            </a:r>
            <a:endParaRPr lang="en-US" sz="1450" dirty="0"/>
          </a:p>
        </p:txBody>
      </p:sp>
      <p:sp>
        <p:nvSpPr>
          <p:cNvPr id="4" name="Shape 2"/>
          <p:cNvSpPr/>
          <p:nvPr/>
        </p:nvSpPr>
        <p:spPr>
          <a:xfrm>
            <a:off x="530352" y="1280160"/>
            <a:ext cx="5120640" cy="5074920"/>
          </a:xfrm>
          <a:prstGeom prst="roundRect">
            <a:avLst>
              <a:gd name="adj" fmla="val 1441"/>
            </a:avLst>
          </a:prstGeom>
          <a:solidFill>
            <a:srgbClr val="181C23"/>
          </a:solidFill>
          <a:ln w="12700">
            <a:solidFill>
              <a:srgbClr val="313845"/>
            </a:solidFill>
            <a:prstDash val="solid"/>
          </a:ln>
        </p:spPr>
        <p:txBody>
          <a:bodyPr/>
          <a:lstStyle/>
          <a:p>
            <a:endParaRPr lang="zh-CN" altLang="en-US"/>
          </a:p>
        </p:txBody>
      </p:sp>
      <p:pic>
        <p:nvPicPr>
          <p:cNvPr id="5" name="Image 0" descr="/mnt/data/naive_cut_crop.png"/>
          <p:cNvPicPr>
            <a:picLocks noChangeAspect="1"/>
          </p:cNvPicPr>
          <p:nvPr/>
        </p:nvPicPr>
        <p:blipFill>
          <a:blip r:embed="rId3"/>
          <a:srcRect t="6761" b="6761"/>
          <a:stretch/>
        </p:blipFill>
        <p:spPr>
          <a:xfrm>
            <a:off x="694944" y="1444752"/>
            <a:ext cx="4800600" cy="3520440"/>
          </a:xfrm>
          <a:prstGeom prst="rect">
            <a:avLst/>
          </a:prstGeom>
        </p:spPr>
      </p:pic>
      <p:sp>
        <p:nvSpPr>
          <p:cNvPr id="6" name="Text 3"/>
          <p:cNvSpPr/>
          <p:nvPr/>
        </p:nvSpPr>
        <p:spPr>
          <a:xfrm>
            <a:off x="804672" y="5230368"/>
            <a:ext cx="4389120" cy="292608"/>
          </a:xfrm>
          <a:prstGeom prst="rect">
            <a:avLst/>
          </a:prstGeom>
          <a:noFill/>
          <a:ln/>
        </p:spPr>
        <p:txBody>
          <a:bodyPr wrap="square" lIns="0" tIns="0" rIns="0" bIns="0" rtlCol="0" anchor="ctr"/>
          <a:lstStyle/>
          <a:p>
            <a:pPr marL="0" indent="0">
              <a:buNone/>
            </a:pPr>
            <a:r>
              <a:rPr lang="en-US" sz="1600" dirty="0">
                <a:solidFill>
                  <a:srgbClr val="E8ECF3"/>
                </a:solidFill>
              </a:rPr>
              <a:t>Naive idea: erase a hole from the top layer and reveal the layer below.</a:t>
            </a:r>
            <a:endParaRPr lang="en-US" sz="1600" dirty="0"/>
          </a:p>
        </p:txBody>
      </p:sp>
      <p:sp>
        <p:nvSpPr>
          <p:cNvPr id="7" name="Shape 4"/>
          <p:cNvSpPr/>
          <p:nvPr/>
        </p:nvSpPr>
        <p:spPr>
          <a:xfrm>
            <a:off x="5870448" y="1280160"/>
            <a:ext cx="5760720" cy="1993392"/>
          </a:xfrm>
          <a:prstGeom prst="roundRect">
            <a:avLst>
              <a:gd name="adj" fmla="val 3670"/>
            </a:avLst>
          </a:prstGeom>
          <a:solidFill>
            <a:srgbClr val="202632"/>
          </a:solidFill>
          <a:ln w="12700">
            <a:solidFill>
              <a:srgbClr val="57C17B"/>
            </a:solidFill>
            <a:prstDash val="solid"/>
          </a:ln>
        </p:spPr>
        <p:txBody>
          <a:bodyPr/>
          <a:lstStyle/>
          <a:p>
            <a:endParaRPr lang="zh-CN" altLang="en-US"/>
          </a:p>
        </p:txBody>
      </p:sp>
      <p:sp>
        <p:nvSpPr>
          <p:cNvPr id="8" name="Text 5"/>
          <p:cNvSpPr/>
          <p:nvPr/>
        </p:nvSpPr>
        <p:spPr>
          <a:xfrm>
            <a:off x="6144768" y="1554480"/>
            <a:ext cx="1554480" cy="228600"/>
          </a:xfrm>
          <a:prstGeom prst="rect">
            <a:avLst/>
          </a:prstGeom>
          <a:noFill/>
          <a:ln/>
        </p:spPr>
        <p:txBody>
          <a:bodyPr wrap="square" lIns="0" tIns="0" rIns="0" bIns="0" rtlCol="0" anchor="ctr"/>
          <a:lstStyle/>
          <a:p>
            <a:pPr marL="0" indent="0">
              <a:buNone/>
            </a:pPr>
            <a:r>
              <a:rPr lang="en-US" sz="2000" b="1" dirty="0">
                <a:solidFill>
                  <a:srgbClr val="57C17B"/>
                </a:solidFill>
              </a:rPr>
              <a:t>Looks right</a:t>
            </a:r>
            <a:endParaRPr lang="en-US" sz="2000" dirty="0"/>
          </a:p>
        </p:txBody>
      </p:sp>
      <p:sp>
        <p:nvSpPr>
          <p:cNvPr id="9" name="Text 6"/>
          <p:cNvSpPr/>
          <p:nvPr/>
        </p:nvSpPr>
        <p:spPr>
          <a:xfrm>
            <a:off x="6144768" y="1920240"/>
            <a:ext cx="4114800" cy="256032"/>
          </a:xfrm>
          <a:prstGeom prst="rect">
            <a:avLst/>
          </a:prstGeom>
          <a:noFill/>
          <a:ln/>
        </p:spPr>
        <p:txBody>
          <a:bodyPr wrap="square" lIns="0" tIns="0" rIns="0" bIns="0" rtlCol="0" anchor="ctr"/>
          <a:lstStyle/>
          <a:p>
            <a:pPr marL="0" indent="0">
              <a:buNone/>
            </a:pPr>
            <a:r>
              <a:rPr lang="en-US" sz="1700" dirty="0">
                <a:solidFill>
                  <a:srgbClr val="E8ECF3"/>
                </a:solidFill>
              </a:rPr>
              <a:t>Inside the hole, you see the background.</a:t>
            </a:r>
            <a:endParaRPr lang="en-US" sz="1700" dirty="0"/>
          </a:p>
        </p:txBody>
      </p:sp>
      <p:sp>
        <p:nvSpPr>
          <p:cNvPr id="10" name="Text 7"/>
          <p:cNvSpPr/>
          <p:nvPr/>
        </p:nvSpPr>
        <p:spPr>
          <a:xfrm>
            <a:off x="6144768" y="2258568"/>
            <a:ext cx="4114800" cy="256032"/>
          </a:xfrm>
          <a:prstGeom prst="rect">
            <a:avLst/>
          </a:prstGeom>
          <a:noFill/>
          <a:ln/>
        </p:spPr>
        <p:txBody>
          <a:bodyPr wrap="square" lIns="0" tIns="0" rIns="0" bIns="0" rtlCol="0" anchor="ctr"/>
          <a:lstStyle/>
          <a:p>
            <a:pPr marL="0" indent="0">
              <a:buNone/>
            </a:pPr>
            <a:r>
              <a:rPr lang="en-US" sz="1700" dirty="0">
                <a:solidFill>
                  <a:srgbClr val="E8ECF3"/>
                </a:solidFill>
              </a:rPr>
              <a:t>That solves the visual problem.</a:t>
            </a:r>
            <a:endParaRPr lang="en-US" sz="1700" dirty="0"/>
          </a:p>
        </p:txBody>
      </p:sp>
      <p:sp>
        <p:nvSpPr>
          <p:cNvPr id="11" name="Shape 8"/>
          <p:cNvSpPr/>
          <p:nvPr/>
        </p:nvSpPr>
        <p:spPr>
          <a:xfrm>
            <a:off x="5870448" y="3611880"/>
            <a:ext cx="5760720" cy="2377440"/>
          </a:xfrm>
          <a:prstGeom prst="roundRect">
            <a:avLst>
              <a:gd name="adj" fmla="val 3077"/>
            </a:avLst>
          </a:prstGeom>
          <a:solidFill>
            <a:srgbClr val="202632"/>
          </a:solidFill>
          <a:ln w="12700">
            <a:solidFill>
              <a:srgbClr val="FF6F7D"/>
            </a:solidFill>
            <a:prstDash val="solid"/>
          </a:ln>
        </p:spPr>
        <p:txBody>
          <a:bodyPr/>
          <a:lstStyle/>
          <a:p>
            <a:endParaRPr lang="zh-CN" altLang="en-US"/>
          </a:p>
        </p:txBody>
      </p:sp>
      <p:sp>
        <p:nvSpPr>
          <p:cNvPr id="12" name="Text 9"/>
          <p:cNvSpPr/>
          <p:nvPr/>
        </p:nvSpPr>
        <p:spPr>
          <a:xfrm>
            <a:off x="6144768" y="3886200"/>
            <a:ext cx="3291840" cy="228600"/>
          </a:xfrm>
          <a:prstGeom prst="rect">
            <a:avLst/>
          </a:prstGeom>
          <a:noFill/>
          <a:ln/>
        </p:spPr>
        <p:txBody>
          <a:bodyPr wrap="square" lIns="0" tIns="0" rIns="0" bIns="0" rtlCol="0" anchor="ctr"/>
          <a:lstStyle/>
          <a:p>
            <a:pPr marL="0" indent="0">
              <a:buNone/>
            </a:pPr>
            <a:r>
              <a:rPr lang="en-US" sz="2000" b="1" dirty="0">
                <a:solidFill>
                  <a:srgbClr val="FF6F7D"/>
                </a:solidFill>
              </a:rPr>
              <a:t>Can still be wrong on export</a:t>
            </a:r>
            <a:endParaRPr lang="en-US" sz="2000" dirty="0"/>
          </a:p>
        </p:txBody>
      </p:sp>
      <p:sp>
        <p:nvSpPr>
          <p:cNvPr id="13" name="Text 10"/>
          <p:cNvSpPr/>
          <p:nvPr/>
        </p:nvSpPr>
        <p:spPr>
          <a:xfrm>
            <a:off x="6144768" y="4251960"/>
            <a:ext cx="5285232" cy="978408"/>
          </a:xfrm>
          <a:prstGeom prst="rect">
            <a:avLst/>
          </a:prstGeom>
          <a:noFill/>
          <a:ln/>
        </p:spPr>
        <p:txBody>
          <a:bodyPr wrap="square" lIns="0" tIns="0" rIns="0" bIns="0" rtlCol="0" anchor="ctr"/>
          <a:lstStyle/>
          <a:p>
            <a:pPr marL="0" indent="0">
              <a:buNone/>
            </a:pPr>
            <a:r>
              <a:rPr lang="en-US" sz="1700" dirty="0">
                <a:solidFill>
                  <a:srgbClr val="E8ECF3"/>
                </a:solidFill>
              </a:rPr>
              <a:t>Outside the hole, semi-transparent foreground can become</a:t>
            </a:r>
            <a:r>
              <a:rPr lang="en-US" sz="1700" dirty="0"/>
              <a:t> </a:t>
            </a:r>
            <a:r>
              <a:rPr lang="en-US" sz="1700" dirty="0">
                <a:solidFill>
                  <a:srgbClr val="E8ECF3"/>
                </a:solidFill>
              </a:rPr>
              <a:t>foreground over background,</a:t>
            </a:r>
          </a:p>
          <a:p>
            <a:pPr marL="0" indent="0">
              <a:buNone/>
            </a:pPr>
            <a:r>
              <a:rPr lang="en-US" sz="1700" dirty="0">
                <a:solidFill>
                  <a:srgbClr val="E8ECF3"/>
                </a:solidFill>
              </a:rPr>
              <a:t>instead of the foreground</a:t>
            </a:r>
            <a:r>
              <a:rPr lang="en-US" sz="1700" dirty="0"/>
              <a:t> </a:t>
            </a:r>
            <a:r>
              <a:rPr lang="en-US" sz="1700" dirty="0">
                <a:solidFill>
                  <a:srgbClr val="E8ECF3"/>
                </a:solidFill>
              </a:rPr>
              <a:t>RGBA you wanted to preserve.</a:t>
            </a:r>
            <a:endParaRPr lang="en-US" sz="1700" dirty="0"/>
          </a:p>
        </p:txBody>
      </p:sp>
      <p:sp>
        <p:nvSpPr>
          <p:cNvPr id="14" name="Text 11"/>
          <p:cNvSpPr/>
          <p:nvPr/>
        </p:nvSpPr>
        <p:spPr>
          <a:xfrm>
            <a:off x="6144768" y="5422392"/>
            <a:ext cx="4023360" cy="219456"/>
          </a:xfrm>
          <a:prstGeom prst="rect">
            <a:avLst/>
          </a:prstGeom>
          <a:noFill/>
          <a:ln/>
        </p:spPr>
        <p:txBody>
          <a:bodyPr wrap="square" lIns="0" tIns="0" rIns="0" bIns="0" rtlCol="0" anchor="ctr"/>
          <a:lstStyle/>
          <a:p>
            <a:pPr marL="0" indent="0">
              <a:buNone/>
            </a:pPr>
            <a:r>
              <a:rPr lang="en-US" sz="1800" b="1" dirty="0">
                <a:solidFill>
                  <a:srgbClr val="F1B75A"/>
                </a:solidFill>
              </a:rPr>
              <a:t>Screen result ≠ exported pixel data</a:t>
            </a:r>
            <a:endParaRPr lang="en-US" sz="1800" dirty="0"/>
          </a:p>
        </p:txBody>
      </p:sp>
      <p:sp>
        <p:nvSpPr>
          <p:cNvPr id="15" name="Text 12"/>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This is why the problem is about RGBA routing, not just masking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11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38912"/>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Why Photoshop breaks the abstraction</a:t>
            </a:r>
            <a:endParaRPr lang="en-US" sz="2800" dirty="0"/>
          </a:p>
        </p:txBody>
      </p:sp>
      <p:sp>
        <p:nvSpPr>
          <p:cNvPr id="3" name="Text 1"/>
          <p:cNvSpPr/>
          <p:nvPr/>
        </p:nvSpPr>
        <p:spPr>
          <a:xfrm>
            <a:off x="548640" y="804672"/>
            <a:ext cx="10881360" cy="329184"/>
          </a:xfrm>
          <a:prstGeom prst="rect">
            <a:avLst/>
          </a:prstGeom>
          <a:noFill/>
          <a:ln/>
        </p:spPr>
        <p:txBody>
          <a:bodyPr wrap="square" lIns="0" tIns="0" rIns="0" bIns="0" rtlCol="0" anchor="ctr"/>
          <a:lstStyle/>
          <a:p>
            <a:pPr marL="0" indent="0">
              <a:buNone/>
            </a:pPr>
            <a:r>
              <a:rPr lang="en-US" sz="1450" dirty="0">
                <a:solidFill>
                  <a:srgbClr val="AAB3C2"/>
                </a:solidFill>
                <a:latin typeface="Aptos" pitchFamily="34" charset="0"/>
                <a:ea typeface="Aptos" pitchFamily="34" charset="-122"/>
                <a:cs typeface="Aptos" pitchFamily="34" charset="-120"/>
              </a:rPr>
              <a:t>In the physical task, pattern and fabric stay together. In Photoshop, RGB and alpha split apart.</a:t>
            </a:r>
            <a:endParaRPr lang="en-US" sz="1450" dirty="0"/>
          </a:p>
        </p:txBody>
      </p:sp>
      <p:sp>
        <p:nvSpPr>
          <p:cNvPr id="4" name="Shape 2"/>
          <p:cNvSpPr/>
          <p:nvPr/>
        </p:nvSpPr>
        <p:spPr>
          <a:xfrm>
            <a:off x="530352" y="1298448"/>
            <a:ext cx="4114800" cy="4919472"/>
          </a:xfrm>
          <a:prstGeom prst="roundRect">
            <a:avLst>
              <a:gd name="adj" fmla="val 1778"/>
            </a:avLst>
          </a:prstGeom>
          <a:solidFill>
            <a:srgbClr val="181C23"/>
          </a:solidFill>
          <a:ln w="12700">
            <a:solidFill>
              <a:srgbClr val="313845"/>
            </a:solidFill>
            <a:prstDash val="solid"/>
          </a:ln>
        </p:spPr>
        <p:txBody>
          <a:bodyPr/>
          <a:lstStyle/>
          <a:p>
            <a:endParaRPr lang="zh-CN" altLang="en-US"/>
          </a:p>
        </p:txBody>
      </p:sp>
      <p:sp>
        <p:nvSpPr>
          <p:cNvPr id="6" name="Text 3"/>
          <p:cNvSpPr/>
          <p:nvPr/>
        </p:nvSpPr>
        <p:spPr>
          <a:xfrm>
            <a:off x="1581912" y="5687568"/>
            <a:ext cx="1645920" cy="182880"/>
          </a:xfrm>
          <a:prstGeom prst="rect">
            <a:avLst/>
          </a:prstGeom>
          <a:noFill/>
          <a:ln/>
        </p:spPr>
        <p:txBody>
          <a:bodyPr wrap="square" lIns="0" tIns="0" rIns="0" bIns="0" rtlCol="0" anchor="ctr"/>
          <a:lstStyle/>
          <a:p>
            <a:pPr marL="0" indent="0" algn="ctr">
              <a:buNone/>
            </a:pPr>
            <a:r>
              <a:rPr lang="en-US" sz="1200" dirty="0">
                <a:solidFill>
                  <a:srgbClr val="AAB3C2"/>
                </a:solidFill>
              </a:rPr>
              <a:t>Channels panel</a:t>
            </a:r>
            <a:endParaRPr lang="en-US" sz="1200" dirty="0"/>
          </a:p>
        </p:txBody>
      </p:sp>
      <p:sp>
        <p:nvSpPr>
          <p:cNvPr id="7" name="Shape 4"/>
          <p:cNvSpPr/>
          <p:nvPr/>
        </p:nvSpPr>
        <p:spPr>
          <a:xfrm>
            <a:off x="4892040" y="1298448"/>
            <a:ext cx="6766560" cy="4919472"/>
          </a:xfrm>
          <a:prstGeom prst="roundRect">
            <a:avLst>
              <a:gd name="adj" fmla="val 1487"/>
            </a:avLst>
          </a:prstGeom>
          <a:solidFill>
            <a:srgbClr val="202632"/>
          </a:solidFill>
          <a:ln w="12700">
            <a:solidFill>
              <a:srgbClr val="313845"/>
            </a:solidFill>
            <a:prstDash val="solid"/>
          </a:ln>
        </p:spPr>
        <p:txBody>
          <a:bodyPr/>
          <a:lstStyle/>
          <a:p>
            <a:endParaRPr lang="zh-CN" altLang="en-US"/>
          </a:p>
        </p:txBody>
      </p:sp>
      <p:sp>
        <p:nvSpPr>
          <p:cNvPr id="8" name="Text 5"/>
          <p:cNvSpPr/>
          <p:nvPr/>
        </p:nvSpPr>
        <p:spPr>
          <a:xfrm>
            <a:off x="5212080" y="1487845"/>
            <a:ext cx="2144684" cy="146303"/>
          </a:xfrm>
          <a:prstGeom prst="rect">
            <a:avLst/>
          </a:prstGeom>
          <a:noFill/>
          <a:ln/>
        </p:spPr>
        <p:txBody>
          <a:bodyPr wrap="square" lIns="0" tIns="0" rIns="0" bIns="0" rtlCol="0" anchor="ctr"/>
          <a:lstStyle/>
          <a:p>
            <a:pPr marL="0" indent="0">
              <a:buNone/>
            </a:pPr>
            <a:r>
              <a:rPr lang="en-US" sz="1900" b="1" dirty="0">
                <a:solidFill>
                  <a:srgbClr val="57C17B"/>
                </a:solidFill>
              </a:rPr>
              <a:t>User intention</a:t>
            </a:r>
            <a:endParaRPr lang="en-US" sz="1900" dirty="0"/>
          </a:p>
        </p:txBody>
      </p:sp>
      <p:sp>
        <p:nvSpPr>
          <p:cNvPr id="9" name="Text 6"/>
          <p:cNvSpPr/>
          <p:nvPr/>
        </p:nvSpPr>
        <p:spPr>
          <a:xfrm>
            <a:off x="5212080" y="1938528"/>
            <a:ext cx="5394960" cy="274320"/>
          </a:xfrm>
          <a:prstGeom prst="rect">
            <a:avLst/>
          </a:prstGeom>
          <a:noFill/>
          <a:ln/>
        </p:spPr>
        <p:txBody>
          <a:bodyPr wrap="square" lIns="0" tIns="0" rIns="0" bIns="0" rtlCol="0" anchor="ctr"/>
          <a:lstStyle/>
          <a:p>
            <a:pPr marL="0" indent="0">
              <a:buNone/>
            </a:pPr>
            <a:r>
              <a:rPr lang="en-US" sz="2200" i="1" dirty="0">
                <a:solidFill>
                  <a:srgbClr val="E8ECF3"/>
                </a:solidFill>
              </a:rPr>
              <a:t>“Use image A on this side, image B on that side.”</a:t>
            </a:r>
            <a:endParaRPr lang="en-US" sz="2200" dirty="0"/>
          </a:p>
        </p:txBody>
      </p:sp>
      <p:sp>
        <p:nvSpPr>
          <p:cNvPr id="10" name="Shape 7"/>
          <p:cNvSpPr/>
          <p:nvPr/>
        </p:nvSpPr>
        <p:spPr>
          <a:xfrm>
            <a:off x="5212080" y="2487168"/>
            <a:ext cx="5760720" cy="0"/>
          </a:xfrm>
          <a:prstGeom prst="line">
            <a:avLst/>
          </a:prstGeom>
          <a:noFill/>
          <a:ln w="12700">
            <a:solidFill>
              <a:srgbClr val="313845"/>
            </a:solidFill>
            <a:prstDash val="solid"/>
          </a:ln>
        </p:spPr>
        <p:txBody>
          <a:bodyPr/>
          <a:lstStyle/>
          <a:p>
            <a:endParaRPr lang="zh-CN" altLang="en-US"/>
          </a:p>
        </p:txBody>
      </p:sp>
      <p:sp>
        <p:nvSpPr>
          <p:cNvPr id="11" name="Text 8"/>
          <p:cNvSpPr/>
          <p:nvPr/>
        </p:nvSpPr>
        <p:spPr>
          <a:xfrm>
            <a:off x="5212080" y="2743200"/>
            <a:ext cx="4389120" cy="219456"/>
          </a:xfrm>
          <a:prstGeom prst="rect">
            <a:avLst/>
          </a:prstGeom>
          <a:noFill/>
          <a:ln/>
        </p:spPr>
        <p:txBody>
          <a:bodyPr wrap="square" lIns="0" tIns="0" rIns="0" bIns="0" rtlCol="0" anchor="ctr"/>
          <a:lstStyle/>
          <a:p>
            <a:pPr marL="0" indent="0">
              <a:buNone/>
            </a:pPr>
            <a:r>
              <a:rPr lang="en-US" sz="1800" b="1" dirty="0">
                <a:solidFill>
                  <a:srgbClr val="E8ECF3"/>
                </a:solidFill>
              </a:rPr>
              <a:t>Photoshop asks for two separate mental models:</a:t>
            </a:r>
            <a:endParaRPr lang="en-US" sz="1800" dirty="0"/>
          </a:p>
        </p:txBody>
      </p:sp>
      <p:sp>
        <p:nvSpPr>
          <p:cNvPr id="12" name="Text 9"/>
          <p:cNvSpPr/>
          <p:nvPr/>
        </p:nvSpPr>
        <p:spPr>
          <a:xfrm>
            <a:off x="5285232" y="3127248"/>
            <a:ext cx="5486400" cy="1783080"/>
          </a:xfrm>
          <a:prstGeom prst="rect">
            <a:avLst/>
          </a:prstGeom>
          <a:noFill/>
          <a:ln/>
        </p:spPr>
        <p:txBody>
          <a:bodyPr wrap="square" lIns="381" tIns="381" rIns="381" bIns="381" rtlCol="0" anchor="ctr"/>
          <a:lstStyle/>
          <a:p>
            <a:pPr marL="101600" indent="-101600">
              <a:buSzPct val="100000"/>
              <a:buChar char="•"/>
            </a:pPr>
            <a:r>
              <a:rPr lang="en-US" sz="1700" dirty="0">
                <a:solidFill>
                  <a:srgbClr val="E8ECF3"/>
                </a:solidFill>
                <a:latin typeface="Aptos" pitchFamily="34" charset="0"/>
                <a:ea typeface="Aptos" pitchFamily="34" charset="-122"/>
                <a:cs typeface="Aptos" pitchFamily="34" charset="-120"/>
              </a:rPr>
              <a:t>Layers and layer masks for visible RGB</a:t>
            </a:r>
          </a:p>
          <a:p>
            <a:pPr marL="101600" indent="-101600">
              <a:buSzPct val="100000"/>
              <a:buChar char="•"/>
            </a:pPr>
            <a:endParaRPr lang="en-US" sz="1700" dirty="0"/>
          </a:p>
          <a:p>
            <a:pPr marL="101600" indent="-101600">
              <a:buSzPct val="100000"/>
              <a:buChar char="•"/>
            </a:pPr>
            <a:r>
              <a:rPr lang="en-US" sz="1700" dirty="0">
                <a:solidFill>
                  <a:srgbClr val="E8ECF3"/>
                </a:solidFill>
                <a:latin typeface="Aptos" pitchFamily="34" charset="0"/>
                <a:ea typeface="Aptos" pitchFamily="34" charset="-122"/>
                <a:cs typeface="Aptos" pitchFamily="34" charset="-120"/>
              </a:rPr>
              <a:t>Channels for final alpha data</a:t>
            </a:r>
          </a:p>
          <a:p>
            <a:pPr marL="101600" indent="-101600">
              <a:buSzPct val="100000"/>
              <a:buChar char="•"/>
            </a:pPr>
            <a:endParaRPr lang="en-US" sz="1700" dirty="0"/>
          </a:p>
          <a:p>
            <a:pPr marL="101600" indent="-101600">
              <a:buSzPct val="100000"/>
              <a:buChar char="•"/>
            </a:pPr>
            <a:r>
              <a:rPr lang="en-US" sz="1700" dirty="0">
                <a:solidFill>
                  <a:srgbClr val="E8ECF3"/>
                </a:solidFill>
                <a:latin typeface="Aptos" pitchFamily="34" charset="0"/>
                <a:ea typeface="Aptos" pitchFamily="34" charset="-122"/>
                <a:cs typeface="Aptos" pitchFamily="34" charset="-120"/>
              </a:rPr>
              <a:t>Manual reconstruction to make exported RGBA correct</a:t>
            </a:r>
            <a:endParaRPr lang="en-US" sz="1700" dirty="0"/>
          </a:p>
        </p:txBody>
      </p:sp>
      <p:sp>
        <p:nvSpPr>
          <p:cNvPr id="13" name="Text 10"/>
          <p:cNvSpPr/>
          <p:nvPr/>
        </p:nvSpPr>
        <p:spPr>
          <a:xfrm>
            <a:off x="5212080" y="5349240"/>
            <a:ext cx="5623560" cy="548640"/>
          </a:xfrm>
          <a:prstGeom prst="rect">
            <a:avLst/>
          </a:prstGeom>
          <a:noFill/>
          <a:ln/>
        </p:spPr>
        <p:txBody>
          <a:bodyPr wrap="square" lIns="0" tIns="0" rIns="0" bIns="0" rtlCol="0" anchor="ctr"/>
          <a:lstStyle/>
          <a:p>
            <a:pPr marL="0" indent="0">
              <a:buNone/>
            </a:pPr>
            <a:r>
              <a:rPr lang="en-US" sz="1700" b="1" dirty="0">
                <a:solidFill>
                  <a:srgbClr val="F1B75A"/>
                </a:solidFill>
              </a:rPr>
              <a:t>That is the gulf of execution: a simple spatial intention gets translated into implementation details.</a:t>
            </a:r>
            <a:endParaRPr lang="en-US" sz="1700" dirty="0"/>
          </a:p>
        </p:txBody>
      </p:sp>
      <p:sp>
        <p:nvSpPr>
          <p:cNvPr id="14" name="Text 11"/>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HCI point: one semantic operation becomes two disconnected workflows</a:t>
            </a:r>
            <a:endParaRPr lang="en-US" sz="1050" dirty="0"/>
          </a:p>
        </p:txBody>
      </p:sp>
      <p:pic>
        <p:nvPicPr>
          <p:cNvPr id="18" name="Picture 17">
            <a:extLst>
              <a:ext uri="{FF2B5EF4-FFF2-40B4-BE49-F238E27FC236}">
                <a16:creationId xmlns:a16="http://schemas.microsoft.com/office/drawing/2014/main" id="{284F0A9B-E3F7-88FA-004E-1878537A81A8}"/>
              </a:ext>
            </a:extLst>
          </p:cNvPr>
          <p:cNvPicPr>
            <a:picLocks noChangeAspect="1"/>
          </p:cNvPicPr>
          <p:nvPr/>
        </p:nvPicPr>
        <p:blipFill>
          <a:blip r:embed="rId3"/>
          <a:stretch>
            <a:fillRect/>
          </a:stretch>
        </p:blipFill>
        <p:spPr>
          <a:xfrm>
            <a:off x="1064872" y="1608172"/>
            <a:ext cx="3095648" cy="39148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5"/>
        </a:solidFill>
        <a:effectLst/>
      </p:bgPr>
    </p:bg>
    <p:spTree>
      <p:nvGrpSpPr>
        <p:cNvPr id="1" name=""/>
        <p:cNvGrpSpPr/>
        <p:nvPr/>
      </p:nvGrpSpPr>
      <p:grpSpPr>
        <a:xfrm>
          <a:off x="0" y="0"/>
          <a:ext cx="0" cy="0"/>
          <a:chOff x="0" y="0"/>
          <a:chExt cx="0" cy="0"/>
        </a:xfrm>
      </p:grpSpPr>
      <p:sp>
        <p:nvSpPr>
          <p:cNvPr id="2" name="Title"/>
          <p:cNvSpPr/>
          <p:nvPr/>
        </p:nvSpPr>
        <p:spPr>
          <a:xfrm>
            <a:off x="548640" y="260000"/>
            <a:ext cx="11064240" cy="445000"/>
          </a:xfrm>
          <a:prstGeom prst="rect">
            <a:avLst/>
          </a:prstGeom>
          <a:noFill/>
          <a:ln/>
        </p:spPr>
        <p:txBody>
          <a:bodyPr wrap="square" lIns="0" tIns="0" rIns="0" bIns="0" rtlCol="0" anchor="ctr"/>
          <a:lstStyle/>
          <a:p>
            <a:pPr marL="0" indent="0" algn="l">
              <a:buNone/>
            </a:pPr>
            <a:r>
              <a:rPr lang="en-US" sz="2800" b="1" dirty="0">
                <a:solidFill>
                  <a:srgbClr val="5AA2FF"/>
                </a:solidFill>
                <a:latin typeface="Aptos Display" pitchFamily="34" charset="0"/>
                <a:ea typeface="Aptos Display" pitchFamily="34" charset="-122"/>
                <a:cs typeface="Aptos Display" pitchFamily="34" charset="-120"/>
              </a:rPr>
              <a:t>Feeling confused? You’re not alone.</a:t>
            </a:r>
            <a:endParaRPr lang="en-US" sz="2800" dirty="0"/>
          </a:p>
        </p:txBody>
      </p:sp>
      <p:sp>
        <p:nvSpPr>
          <p:cNvPr id="3" name="Subtitle"/>
          <p:cNvSpPr/>
          <p:nvPr/>
        </p:nvSpPr>
        <p:spPr>
          <a:xfrm>
            <a:off x="548640" y="730000"/>
            <a:ext cx="11064240" cy="310000"/>
          </a:xfrm>
          <a:prstGeom prst="rect">
            <a:avLst/>
          </a:prstGeom>
          <a:noFill/>
          <a:ln/>
        </p:spPr>
        <p:txBody>
          <a:bodyPr wrap="square" lIns="0" tIns="0" rIns="0" bIns="0" rtlCol="0" anchor="ctr"/>
          <a:lstStyle/>
          <a:p>
            <a:pPr marL="0" indent="0" algn="l">
              <a:buNone/>
            </a:pPr>
            <a:r>
              <a:rPr lang="en-US" sz="1450" dirty="0">
                <a:solidFill>
                  <a:srgbClr val="AAB3C2"/>
                </a:solidFill>
                <a:latin typeface="Aptos" pitchFamily="34" charset="0"/>
                <a:ea typeface="Aptos" pitchFamily="34" charset="-122"/>
                <a:cs typeface="Aptos" pitchFamily="34" charset="-120"/>
              </a:rPr>
              <a:t>One RGBA splice becomes layers, selections, masks, and channels.</a:t>
            </a:r>
            <a:endParaRPr lang="en-US" sz="1450" dirty="0"/>
          </a:p>
        </p:txBody>
      </p:sp>
      <p:sp>
        <p:nvSpPr>
          <p:cNvPr id="4" name="Diagram white panel"/>
          <p:cNvSpPr/>
          <p:nvPr/>
        </p:nvSpPr>
        <p:spPr>
          <a:xfrm>
            <a:off x="581000" y="1040000"/>
            <a:ext cx="10881033" cy="5351894"/>
          </a:xfrm>
          <a:prstGeom prst="roundRect">
            <a:avLst/>
          </a:prstGeom>
          <a:solidFill>
            <a:srgbClr val="FFFFFF"/>
          </a:solidFill>
          <a:ln w="12700">
            <a:solidFill>
              <a:srgbClr val="DADDE5"/>
            </a:solidFill>
          </a:ln>
        </p:spPr>
        <p:txBody>
          <a:bodyPr/>
          <a:lstStyle/>
          <a:p>
            <a:endParaRPr/>
          </a:p>
        </p:txBody>
      </p:sp>
      <p:pic>
        <p:nvPicPr>
          <p:cNvPr id="5" name="Photoshop object dependency graph"/>
          <p:cNvPicPr/>
          <p:nvPr/>
        </p:nvPicPr>
        <p:blipFill>
          <a:blip r:embed="rId3"/>
          <a:stretch>
            <a:fillRect/>
          </a:stretch>
        </p:blipFill>
        <p:spPr>
          <a:xfrm>
            <a:off x="931872" y="1258028"/>
            <a:ext cx="10209829" cy="4775847"/>
          </a:xfrm>
          <a:prstGeom prst="rect">
            <a:avLst/>
          </a:prstGeom>
        </p:spPr>
      </p:pic>
      <p:sp>
        <p:nvSpPr>
          <p:cNvPr id="6" name="Takeaway"/>
          <p:cNvSpPr/>
          <p:nvPr/>
        </p:nvSpPr>
        <p:spPr>
          <a:xfrm>
            <a:off x="548640" y="6470000"/>
            <a:ext cx="11064240" cy="250000"/>
          </a:xfrm>
          <a:prstGeom prst="rect">
            <a:avLst/>
          </a:prstGeom>
          <a:noFill/>
          <a:ln/>
        </p:spPr>
        <p:txBody>
          <a:bodyPr wrap="square" lIns="0" tIns="0" rIns="0" bIns="0" rtlCol="0" anchor="ctr"/>
          <a:lstStyle/>
          <a:p>
            <a:pPr marL="0" indent="0" algn="l">
              <a:buNone/>
            </a:pPr>
            <a:r>
              <a:rPr lang="en-US" sz="1300" i="1" dirty="0">
                <a:solidFill>
                  <a:srgbClr val="E8ECF3"/>
                </a:solidFill>
                <a:latin typeface="Aptos" pitchFamily="34" charset="0"/>
                <a:ea typeface="Aptos" pitchFamily="34" charset="-122"/>
                <a:cs typeface="Aptos" pitchFamily="34" charset="-120"/>
              </a:rPr>
              <a:t>The hard part is not drawing the region — it is keeping all these Photoshop objects synchronized.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365760"/>
            <a:ext cx="10485120" cy="731520"/>
          </a:xfrm>
          <a:prstGeom prst="rect">
            <a:avLst/>
          </a:prstGeom>
          <a:noFill/>
          <a:ln/>
        </p:spPr>
        <p:txBody>
          <a:bodyPr wrap="square" lIns="0" tIns="0" rIns="0" bIns="0" rtlCol="0" anchor="ctr"/>
          <a:lstStyle/>
          <a:p>
            <a:r>
              <a:rPr lang="en-US" sz="4267" b="1" dirty="0">
                <a:solidFill>
                  <a:srgbClr val="5B9BF5"/>
                </a:solidFill>
                <a:latin typeface="Calibri" pitchFamily="34" charset="0"/>
                <a:ea typeface="Calibri" pitchFamily="34" charset="-122"/>
                <a:cs typeface="Calibri" pitchFamily="34" charset="-120"/>
              </a:rPr>
              <a:t>This Is Only the Simplest Case</a:t>
            </a:r>
            <a:endParaRPr lang="en-US" sz="4267" dirty="0"/>
          </a:p>
        </p:txBody>
      </p:sp>
      <p:sp>
        <p:nvSpPr>
          <p:cNvPr id="3" name="Text 1"/>
          <p:cNvSpPr/>
          <p:nvPr/>
        </p:nvSpPr>
        <p:spPr>
          <a:xfrm>
            <a:off x="853440" y="1158240"/>
            <a:ext cx="10485120" cy="487680"/>
          </a:xfrm>
          <a:prstGeom prst="rect">
            <a:avLst/>
          </a:prstGeom>
          <a:noFill/>
          <a:ln/>
        </p:spPr>
        <p:txBody>
          <a:bodyPr wrap="square" lIns="0" tIns="0" rIns="0" bIns="0" rtlCol="0" anchor="ctr"/>
          <a:lstStyle/>
          <a:p>
            <a:r>
              <a:rPr lang="en-US" sz="1867" dirty="0">
                <a:solidFill>
                  <a:srgbClr val="8A95A5"/>
                </a:solidFill>
                <a:latin typeface="Calibri" pitchFamily="34" charset="0"/>
                <a:ea typeface="Calibri" pitchFamily="34" charset="-122"/>
                <a:cs typeface="Calibri" pitchFamily="34" charset="-120"/>
              </a:rPr>
              <a:t>The 20-step workflow is not a one-time cost. It is the cost of every creative decision.</a:t>
            </a:r>
            <a:endParaRPr lang="en-US" sz="1867" dirty="0"/>
          </a:p>
        </p:txBody>
      </p:sp>
      <p:sp>
        <p:nvSpPr>
          <p:cNvPr id="4" name="Shape 2"/>
          <p:cNvSpPr/>
          <p:nvPr/>
        </p:nvSpPr>
        <p:spPr>
          <a:xfrm>
            <a:off x="853440" y="1950720"/>
            <a:ext cx="4998720" cy="4267200"/>
          </a:xfrm>
          <a:prstGeom prst="roundRect">
            <a:avLst>
              <a:gd name="adj" fmla="val 3429"/>
            </a:avLst>
          </a:prstGeom>
          <a:solidFill>
            <a:srgbClr val="1C2333"/>
          </a:solidFill>
          <a:ln/>
        </p:spPr>
        <p:txBody>
          <a:bodyPr/>
          <a:lstStyle/>
          <a:p>
            <a:endParaRPr lang="en-US" sz="2400"/>
          </a:p>
        </p:txBody>
      </p:sp>
      <p:sp>
        <p:nvSpPr>
          <p:cNvPr id="5" name="Text 3"/>
          <p:cNvSpPr/>
          <p:nvPr/>
        </p:nvSpPr>
        <p:spPr>
          <a:xfrm>
            <a:off x="1219200" y="2194560"/>
            <a:ext cx="4267200" cy="426720"/>
          </a:xfrm>
          <a:prstGeom prst="rect">
            <a:avLst/>
          </a:prstGeom>
          <a:noFill/>
          <a:ln/>
        </p:spPr>
        <p:txBody>
          <a:bodyPr wrap="square" lIns="0" tIns="0" rIns="0" bIns="0" rtlCol="0" anchor="ctr"/>
          <a:lstStyle/>
          <a:p>
            <a:r>
              <a:rPr lang="en-US" sz="1867" b="1" dirty="0">
                <a:solidFill>
                  <a:srgbClr val="F96167"/>
                </a:solidFill>
                <a:latin typeface="Calibri" pitchFamily="34" charset="0"/>
                <a:ea typeface="Calibri" pitchFamily="34" charset="-122"/>
                <a:cs typeface="Calibri" pitchFamily="34" charset="-120"/>
              </a:rPr>
              <a:t>Photoshop: every revision</a:t>
            </a:r>
            <a:endParaRPr lang="en-US" sz="1867" dirty="0"/>
          </a:p>
        </p:txBody>
      </p:sp>
      <p:sp>
        <p:nvSpPr>
          <p:cNvPr id="6" name="Shape 4"/>
          <p:cNvSpPr/>
          <p:nvPr/>
        </p:nvSpPr>
        <p:spPr>
          <a:xfrm>
            <a:off x="1219200" y="2791968"/>
            <a:ext cx="292608" cy="292608"/>
          </a:xfrm>
          <a:prstGeom prst="ellipse">
            <a:avLst/>
          </a:prstGeom>
          <a:solidFill>
            <a:srgbClr val="2A3448"/>
          </a:solidFill>
          <a:ln/>
        </p:spPr>
        <p:txBody>
          <a:bodyPr/>
          <a:lstStyle/>
          <a:p>
            <a:endParaRPr lang="en-US" sz="2400"/>
          </a:p>
        </p:txBody>
      </p:sp>
      <p:sp>
        <p:nvSpPr>
          <p:cNvPr id="7" name="Text 5"/>
          <p:cNvSpPr/>
          <p:nvPr/>
        </p:nvSpPr>
        <p:spPr>
          <a:xfrm>
            <a:off x="1219200" y="2791968"/>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609344" y="2743200"/>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Revise mask</a:t>
            </a:r>
            <a:endParaRPr lang="en-US" sz="1600" dirty="0"/>
          </a:p>
        </p:txBody>
      </p:sp>
      <p:sp>
        <p:nvSpPr>
          <p:cNvPr id="9" name="Shape 7"/>
          <p:cNvSpPr/>
          <p:nvPr/>
        </p:nvSpPr>
        <p:spPr>
          <a:xfrm>
            <a:off x="1219200" y="3243072"/>
            <a:ext cx="292608" cy="292608"/>
          </a:xfrm>
          <a:prstGeom prst="ellipse">
            <a:avLst/>
          </a:prstGeom>
          <a:solidFill>
            <a:srgbClr val="2A3448"/>
          </a:solidFill>
          <a:ln/>
        </p:spPr>
        <p:txBody>
          <a:bodyPr/>
          <a:lstStyle/>
          <a:p>
            <a:endParaRPr lang="en-US" sz="2400"/>
          </a:p>
        </p:txBody>
      </p:sp>
      <p:sp>
        <p:nvSpPr>
          <p:cNvPr id="10" name="Text 8"/>
          <p:cNvSpPr/>
          <p:nvPr/>
        </p:nvSpPr>
        <p:spPr>
          <a:xfrm>
            <a:off x="1219200" y="3243072"/>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609344" y="3194304"/>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Redo layer mask</a:t>
            </a:r>
            <a:endParaRPr lang="en-US" sz="1600" dirty="0"/>
          </a:p>
        </p:txBody>
      </p:sp>
      <p:sp>
        <p:nvSpPr>
          <p:cNvPr id="12" name="Shape 10"/>
          <p:cNvSpPr/>
          <p:nvPr/>
        </p:nvSpPr>
        <p:spPr>
          <a:xfrm>
            <a:off x="1219200" y="3694176"/>
            <a:ext cx="292608" cy="292608"/>
          </a:xfrm>
          <a:prstGeom prst="ellipse">
            <a:avLst/>
          </a:prstGeom>
          <a:solidFill>
            <a:srgbClr val="2A3448"/>
          </a:solidFill>
          <a:ln/>
        </p:spPr>
        <p:txBody>
          <a:bodyPr/>
          <a:lstStyle/>
          <a:p>
            <a:endParaRPr lang="en-US" sz="2400"/>
          </a:p>
        </p:txBody>
      </p:sp>
      <p:sp>
        <p:nvSpPr>
          <p:cNvPr id="13" name="Text 11"/>
          <p:cNvSpPr/>
          <p:nvPr/>
        </p:nvSpPr>
        <p:spPr>
          <a:xfrm>
            <a:off x="1219200" y="3694176"/>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1609344" y="3645408"/>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Re-extract alpha A</a:t>
            </a:r>
            <a:endParaRPr lang="en-US" sz="1600" dirty="0"/>
          </a:p>
        </p:txBody>
      </p:sp>
      <p:sp>
        <p:nvSpPr>
          <p:cNvPr id="15" name="Shape 13"/>
          <p:cNvSpPr/>
          <p:nvPr/>
        </p:nvSpPr>
        <p:spPr>
          <a:xfrm>
            <a:off x="1219200" y="4145280"/>
            <a:ext cx="292608" cy="292608"/>
          </a:xfrm>
          <a:prstGeom prst="ellipse">
            <a:avLst/>
          </a:prstGeom>
          <a:solidFill>
            <a:srgbClr val="2A3448"/>
          </a:solidFill>
          <a:ln/>
        </p:spPr>
        <p:txBody>
          <a:bodyPr/>
          <a:lstStyle/>
          <a:p>
            <a:endParaRPr lang="en-US" sz="2400"/>
          </a:p>
        </p:txBody>
      </p:sp>
      <p:sp>
        <p:nvSpPr>
          <p:cNvPr id="16" name="Text 14"/>
          <p:cNvSpPr/>
          <p:nvPr/>
        </p:nvSpPr>
        <p:spPr>
          <a:xfrm>
            <a:off x="1219200" y="4145280"/>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1609344" y="4096512"/>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Re-extract alpha B</a:t>
            </a:r>
            <a:endParaRPr lang="en-US" sz="1600" dirty="0"/>
          </a:p>
        </p:txBody>
      </p:sp>
      <p:sp>
        <p:nvSpPr>
          <p:cNvPr id="18" name="Shape 16"/>
          <p:cNvSpPr/>
          <p:nvPr/>
        </p:nvSpPr>
        <p:spPr>
          <a:xfrm>
            <a:off x="1219200" y="4596384"/>
            <a:ext cx="292608" cy="292608"/>
          </a:xfrm>
          <a:prstGeom prst="ellipse">
            <a:avLst/>
          </a:prstGeom>
          <a:solidFill>
            <a:srgbClr val="2A3448"/>
          </a:solidFill>
          <a:ln/>
        </p:spPr>
        <p:txBody>
          <a:bodyPr/>
          <a:lstStyle/>
          <a:p>
            <a:endParaRPr lang="en-US" sz="2400"/>
          </a:p>
        </p:txBody>
      </p:sp>
      <p:sp>
        <p:nvSpPr>
          <p:cNvPr id="19" name="Text 17"/>
          <p:cNvSpPr/>
          <p:nvPr/>
        </p:nvSpPr>
        <p:spPr>
          <a:xfrm>
            <a:off x="1219200" y="4596384"/>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609344" y="4547616"/>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Re-select region</a:t>
            </a:r>
            <a:endParaRPr lang="en-US" sz="1600" dirty="0"/>
          </a:p>
        </p:txBody>
      </p:sp>
      <p:sp>
        <p:nvSpPr>
          <p:cNvPr id="21" name="Shape 19"/>
          <p:cNvSpPr/>
          <p:nvPr/>
        </p:nvSpPr>
        <p:spPr>
          <a:xfrm>
            <a:off x="1219200" y="5047488"/>
            <a:ext cx="292608" cy="292608"/>
          </a:xfrm>
          <a:prstGeom prst="ellipse">
            <a:avLst/>
          </a:prstGeom>
          <a:solidFill>
            <a:srgbClr val="2A3448"/>
          </a:solidFill>
          <a:ln/>
        </p:spPr>
        <p:txBody>
          <a:bodyPr/>
          <a:lstStyle/>
          <a:p>
            <a:endParaRPr lang="en-US" sz="2400"/>
          </a:p>
        </p:txBody>
      </p:sp>
      <p:sp>
        <p:nvSpPr>
          <p:cNvPr id="22" name="Text 20"/>
          <p:cNvSpPr/>
          <p:nvPr/>
        </p:nvSpPr>
        <p:spPr>
          <a:xfrm>
            <a:off x="1219200" y="5047488"/>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1609344" y="4998720"/>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Re-composite alpha</a:t>
            </a:r>
            <a:endParaRPr lang="en-US" sz="1600" dirty="0"/>
          </a:p>
        </p:txBody>
      </p:sp>
      <p:sp>
        <p:nvSpPr>
          <p:cNvPr id="24" name="Shape 22"/>
          <p:cNvSpPr/>
          <p:nvPr/>
        </p:nvSpPr>
        <p:spPr>
          <a:xfrm>
            <a:off x="1219200" y="5498592"/>
            <a:ext cx="292608" cy="292608"/>
          </a:xfrm>
          <a:prstGeom prst="ellipse">
            <a:avLst/>
          </a:prstGeom>
          <a:solidFill>
            <a:srgbClr val="2A3448"/>
          </a:solidFill>
          <a:ln/>
        </p:spPr>
        <p:txBody>
          <a:bodyPr/>
          <a:lstStyle/>
          <a:p>
            <a:endParaRPr lang="en-US" sz="2400"/>
          </a:p>
        </p:txBody>
      </p:sp>
      <p:sp>
        <p:nvSpPr>
          <p:cNvPr id="25" name="Text 23"/>
          <p:cNvSpPr/>
          <p:nvPr/>
        </p:nvSpPr>
        <p:spPr>
          <a:xfrm>
            <a:off x="1219200" y="5498592"/>
            <a:ext cx="292608" cy="292608"/>
          </a:xfrm>
          <a:prstGeom prst="rect">
            <a:avLst/>
          </a:prstGeom>
          <a:noFill/>
          <a:ln/>
        </p:spPr>
        <p:txBody>
          <a:bodyPr wrap="square" lIns="0" tIns="0" rIns="0" bIns="0" rtlCol="0" anchor="ctr"/>
          <a:lstStyle/>
          <a:p>
            <a:pPr algn="ctr"/>
            <a:r>
              <a:rPr lang="en-US" sz="1200" b="1" dirty="0">
                <a:solidFill>
                  <a:srgbClr val="F96167"/>
                </a:solidFill>
                <a:latin typeface="Calibri" pitchFamily="34" charset="0"/>
                <a:ea typeface="Calibri" pitchFamily="34" charset="-122"/>
                <a:cs typeface="Calibri" pitchFamily="34" charset="-120"/>
              </a:rPr>
              <a:t>7</a:t>
            </a:r>
            <a:endParaRPr lang="en-US" sz="1200" dirty="0"/>
          </a:p>
        </p:txBody>
      </p:sp>
      <p:sp>
        <p:nvSpPr>
          <p:cNvPr id="26" name="Text 24"/>
          <p:cNvSpPr/>
          <p:nvPr/>
        </p:nvSpPr>
        <p:spPr>
          <a:xfrm>
            <a:off x="1609344" y="5449824"/>
            <a:ext cx="3657600" cy="390144"/>
          </a:xfrm>
          <a:prstGeom prst="rect">
            <a:avLst/>
          </a:prstGeom>
          <a:noFill/>
          <a:ln/>
        </p:spPr>
        <p:txBody>
          <a:bodyPr wrap="square" lIns="0" tIns="0" rIns="0" bIns="0" rtlCol="0" anchor="ctr"/>
          <a:lstStyle/>
          <a:p>
            <a:r>
              <a:rPr lang="en-US" sz="1600" dirty="0">
                <a:solidFill>
                  <a:srgbClr val="E8ECF0"/>
                </a:solidFill>
                <a:latin typeface="Calibri" pitchFamily="34" charset="0"/>
                <a:ea typeface="Calibri" pitchFamily="34" charset="-122"/>
                <a:cs typeface="Calibri" pitchFamily="34" charset="-120"/>
              </a:rPr>
              <a:t>Re-merge &amp; export</a:t>
            </a:r>
            <a:endParaRPr lang="en-US" sz="1600" dirty="0"/>
          </a:p>
        </p:txBody>
      </p:sp>
      <p:pic>
        <p:nvPicPr>
          <p:cNvPr id="27" name="Image 0" descr="preencoded.png"/>
          <p:cNvPicPr>
            <a:picLocks noChangeAspect="1"/>
          </p:cNvPicPr>
          <p:nvPr/>
        </p:nvPicPr>
        <p:blipFill>
          <a:blip r:embed="rId3"/>
          <a:stretch>
            <a:fillRect/>
          </a:stretch>
        </p:blipFill>
        <p:spPr>
          <a:xfrm>
            <a:off x="4998720" y="3779520"/>
            <a:ext cx="487680" cy="487680"/>
          </a:xfrm>
          <a:prstGeom prst="rect">
            <a:avLst/>
          </a:prstGeom>
        </p:spPr>
      </p:pic>
      <p:sp>
        <p:nvSpPr>
          <p:cNvPr id="28" name="Text 25"/>
          <p:cNvSpPr/>
          <p:nvPr/>
        </p:nvSpPr>
        <p:spPr>
          <a:xfrm>
            <a:off x="4693920" y="4328160"/>
            <a:ext cx="1097280" cy="548640"/>
          </a:xfrm>
          <a:prstGeom prst="rect">
            <a:avLst/>
          </a:prstGeom>
          <a:noFill/>
          <a:ln/>
        </p:spPr>
        <p:txBody>
          <a:bodyPr wrap="square" lIns="0" tIns="0" rIns="0" bIns="0" rtlCol="0" anchor="ctr"/>
          <a:lstStyle/>
          <a:p>
            <a:pPr algn="ctr"/>
            <a:r>
              <a:rPr lang="en-US" sz="1200" i="1" dirty="0">
                <a:solidFill>
                  <a:srgbClr val="F96167"/>
                </a:solidFill>
                <a:latin typeface="Calibri" pitchFamily="34" charset="0"/>
                <a:ea typeface="Calibri" pitchFamily="34" charset="-122"/>
                <a:cs typeface="Calibri" pitchFamily="34" charset="-120"/>
              </a:rPr>
              <a:t>repeat</a:t>
            </a:r>
            <a:endParaRPr lang="en-US" sz="1200" dirty="0"/>
          </a:p>
          <a:p>
            <a:pPr algn="ctr"/>
            <a:r>
              <a:rPr lang="en-US" sz="1200" i="1" dirty="0">
                <a:solidFill>
                  <a:srgbClr val="F96167"/>
                </a:solidFill>
                <a:latin typeface="Calibri" pitchFamily="34" charset="0"/>
                <a:ea typeface="Calibri" pitchFamily="34" charset="-122"/>
                <a:cs typeface="Calibri" pitchFamily="34" charset="-120"/>
              </a:rPr>
              <a:t>every time</a:t>
            </a:r>
            <a:endParaRPr lang="en-US" sz="1200" dirty="0"/>
          </a:p>
        </p:txBody>
      </p:sp>
      <p:sp>
        <p:nvSpPr>
          <p:cNvPr id="29" name="Shape 26"/>
          <p:cNvSpPr/>
          <p:nvPr/>
        </p:nvSpPr>
        <p:spPr>
          <a:xfrm>
            <a:off x="6339840" y="1950720"/>
            <a:ext cx="4998720" cy="4267200"/>
          </a:xfrm>
          <a:prstGeom prst="roundRect">
            <a:avLst>
              <a:gd name="adj" fmla="val 3429"/>
            </a:avLst>
          </a:prstGeom>
          <a:solidFill>
            <a:srgbClr val="1C2333"/>
          </a:solidFill>
          <a:ln/>
        </p:spPr>
        <p:txBody>
          <a:bodyPr/>
          <a:lstStyle/>
          <a:p>
            <a:endParaRPr lang="en-US" sz="2400"/>
          </a:p>
        </p:txBody>
      </p:sp>
      <p:sp>
        <p:nvSpPr>
          <p:cNvPr id="30" name="Text 27"/>
          <p:cNvSpPr/>
          <p:nvPr/>
        </p:nvSpPr>
        <p:spPr>
          <a:xfrm>
            <a:off x="6705600" y="2194560"/>
            <a:ext cx="4267200" cy="426720"/>
          </a:xfrm>
          <a:prstGeom prst="rect">
            <a:avLst/>
          </a:prstGeom>
          <a:noFill/>
          <a:ln/>
        </p:spPr>
        <p:txBody>
          <a:bodyPr wrap="square" lIns="0" tIns="0" rIns="0" bIns="0" rtlCol="0" anchor="ctr"/>
          <a:lstStyle/>
          <a:p>
            <a:r>
              <a:rPr lang="en-US" sz="1867" b="1" dirty="0">
                <a:solidFill>
                  <a:srgbClr val="4ADE80"/>
                </a:solidFill>
                <a:latin typeface="Calibri" pitchFamily="34" charset="0"/>
                <a:ea typeface="Calibri" pitchFamily="34" charset="-122"/>
                <a:cs typeface="Calibri" pitchFamily="34" charset="-120"/>
              </a:rPr>
              <a:t>Alpha Splice: every revision</a:t>
            </a:r>
            <a:endParaRPr lang="en-US" sz="1867" dirty="0"/>
          </a:p>
        </p:txBody>
      </p:sp>
      <p:sp>
        <p:nvSpPr>
          <p:cNvPr id="31" name="Shape 28"/>
          <p:cNvSpPr/>
          <p:nvPr/>
        </p:nvSpPr>
        <p:spPr>
          <a:xfrm>
            <a:off x="6949440" y="2926080"/>
            <a:ext cx="3779520" cy="609600"/>
          </a:xfrm>
          <a:prstGeom prst="roundRect">
            <a:avLst>
              <a:gd name="adj" fmla="val 16000"/>
            </a:avLst>
          </a:prstGeom>
          <a:solidFill>
            <a:srgbClr val="1A3A2A"/>
          </a:solidFill>
          <a:ln/>
        </p:spPr>
        <p:txBody>
          <a:bodyPr/>
          <a:lstStyle/>
          <a:p>
            <a:endParaRPr lang="en-US" sz="2400"/>
          </a:p>
        </p:txBody>
      </p:sp>
      <p:sp>
        <p:nvSpPr>
          <p:cNvPr id="32" name="Text 29"/>
          <p:cNvSpPr/>
          <p:nvPr/>
        </p:nvSpPr>
        <p:spPr>
          <a:xfrm>
            <a:off x="6949440" y="2926080"/>
            <a:ext cx="3779520" cy="609600"/>
          </a:xfrm>
          <a:prstGeom prst="rect">
            <a:avLst/>
          </a:prstGeom>
          <a:noFill/>
          <a:ln/>
        </p:spPr>
        <p:txBody>
          <a:bodyPr wrap="square" lIns="0" tIns="0" rIns="0" bIns="0" rtlCol="0" anchor="ctr"/>
          <a:lstStyle/>
          <a:p>
            <a:pPr algn="ctr"/>
            <a:r>
              <a:rPr lang="en-US" sz="1867" b="1" dirty="0">
                <a:solidFill>
                  <a:srgbClr val="4ADE80"/>
                </a:solidFill>
                <a:latin typeface="Calibri" pitchFamily="34" charset="0"/>
                <a:ea typeface="Calibri" pitchFamily="34" charset="-122"/>
                <a:cs typeface="Calibri" pitchFamily="34" charset="-120"/>
              </a:rPr>
              <a:t>Revise the mask</a:t>
            </a:r>
            <a:endParaRPr lang="en-US" sz="1867" dirty="0"/>
          </a:p>
        </p:txBody>
      </p:sp>
      <p:sp>
        <p:nvSpPr>
          <p:cNvPr id="33" name="Text 30"/>
          <p:cNvSpPr/>
          <p:nvPr/>
        </p:nvSpPr>
        <p:spPr>
          <a:xfrm>
            <a:off x="8290560" y="3596640"/>
            <a:ext cx="975360" cy="365760"/>
          </a:xfrm>
          <a:prstGeom prst="rect">
            <a:avLst/>
          </a:prstGeom>
          <a:noFill/>
          <a:ln/>
        </p:spPr>
        <p:txBody>
          <a:bodyPr wrap="square" lIns="0" tIns="0" rIns="0" bIns="0" rtlCol="0" anchor="ctr"/>
          <a:lstStyle/>
          <a:p>
            <a:pPr algn="ctr"/>
            <a:r>
              <a:rPr lang="en-US" sz="2400" dirty="0">
                <a:solidFill>
                  <a:srgbClr val="5B7A9D"/>
                </a:solidFill>
                <a:latin typeface="Calibri" pitchFamily="34" charset="0"/>
                <a:ea typeface="Calibri" pitchFamily="34" charset="-122"/>
                <a:cs typeface="Calibri" pitchFamily="34" charset="-120"/>
              </a:rPr>
              <a:t>↓</a:t>
            </a:r>
            <a:endParaRPr lang="en-US" sz="2400" dirty="0"/>
          </a:p>
        </p:txBody>
      </p:sp>
      <p:sp>
        <p:nvSpPr>
          <p:cNvPr id="34" name="Shape 31"/>
          <p:cNvSpPr/>
          <p:nvPr/>
        </p:nvSpPr>
        <p:spPr>
          <a:xfrm>
            <a:off x="6949440" y="4023360"/>
            <a:ext cx="3779520" cy="609600"/>
          </a:xfrm>
          <a:prstGeom prst="roundRect">
            <a:avLst>
              <a:gd name="adj" fmla="val 16000"/>
            </a:avLst>
          </a:prstGeom>
          <a:solidFill>
            <a:srgbClr val="1A3A2A"/>
          </a:solidFill>
          <a:ln/>
        </p:spPr>
        <p:txBody>
          <a:bodyPr/>
          <a:lstStyle/>
          <a:p>
            <a:endParaRPr lang="en-US" sz="2400"/>
          </a:p>
        </p:txBody>
      </p:sp>
      <p:sp>
        <p:nvSpPr>
          <p:cNvPr id="35" name="Text 32"/>
          <p:cNvSpPr/>
          <p:nvPr/>
        </p:nvSpPr>
        <p:spPr>
          <a:xfrm>
            <a:off x="6949440" y="4023360"/>
            <a:ext cx="3779520" cy="609600"/>
          </a:xfrm>
          <a:prstGeom prst="rect">
            <a:avLst/>
          </a:prstGeom>
          <a:noFill/>
          <a:ln/>
        </p:spPr>
        <p:txBody>
          <a:bodyPr wrap="square" lIns="0" tIns="0" rIns="0" bIns="0" rtlCol="0" anchor="ctr"/>
          <a:lstStyle/>
          <a:p>
            <a:pPr algn="ctr"/>
            <a:r>
              <a:rPr lang="en-US" sz="1867" b="1" dirty="0">
                <a:solidFill>
                  <a:srgbClr val="4ADE80"/>
                </a:solidFill>
                <a:latin typeface="Calibri" pitchFamily="34" charset="0"/>
                <a:ea typeface="Calibri" pitchFamily="34" charset="-122"/>
                <a:cs typeface="Calibri" pitchFamily="34" charset="-120"/>
              </a:rPr>
              <a:t>Correct RGBA — done</a:t>
            </a:r>
            <a:endParaRPr lang="en-US" sz="1867" dirty="0"/>
          </a:p>
        </p:txBody>
      </p:sp>
      <p:sp>
        <p:nvSpPr>
          <p:cNvPr id="36" name="Text 33"/>
          <p:cNvSpPr/>
          <p:nvPr/>
        </p:nvSpPr>
        <p:spPr>
          <a:xfrm>
            <a:off x="6949440" y="4815840"/>
            <a:ext cx="3779520" cy="487680"/>
          </a:xfrm>
          <a:prstGeom prst="rect">
            <a:avLst/>
          </a:prstGeom>
          <a:noFill/>
          <a:ln/>
        </p:spPr>
        <p:txBody>
          <a:bodyPr wrap="square" lIns="0" tIns="0" rIns="0" bIns="0" rtlCol="0" anchor="ctr"/>
          <a:lstStyle/>
          <a:p>
            <a:pPr algn="ctr"/>
            <a:r>
              <a:rPr lang="en-US" sz="1467" dirty="0">
                <a:solidFill>
                  <a:srgbClr val="8A95A5"/>
                </a:solidFill>
                <a:latin typeface="Calibri" pitchFamily="34" charset="0"/>
                <a:ea typeface="Calibri" pitchFamily="34" charset="-122"/>
                <a:cs typeface="Calibri" pitchFamily="34" charset="-120"/>
              </a:rPr>
              <a:t>RGBA routing is automatic.</a:t>
            </a:r>
            <a:endParaRPr lang="en-US" sz="1467" dirty="0"/>
          </a:p>
          <a:p>
            <a:pPr algn="ctr"/>
            <a:r>
              <a:rPr lang="en-US" sz="1467" dirty="0">
                <a:solidFill>
                  <a:srgbClr val="8A95A5"/>
                </a:solidFill>
                <a:latin typeface="Calibri" pitchFamily="34" charset="0"/>
                <a:ea typeface="Calibri" pitchFamily="34" charset="-122"/>
                <a:cs typeface="Calibri" pitchFamily="34" charset="-120"/>
              </a:rPr>
              <a:t>No resynchronization needed.</a:t>
            </a:r>
            <a:endParaRPr lang="en-US" sz="1467" dirty="0"/>
          </a:p>
        </p:txBody>
      </p:sp>
      <p:sp>
        <p:nvSpPr>
          <p:cNvPr id="37" name="Shape 34"/>
          <p:cNvSpPr/>
          <p:nvPr/>
        </p:nvSpPr>
        <p:spPr>
          <a:xfrm>
            <a:off x="6949440" y="5486400"/>
            <a:ext cx="3779520" cy="0"/>
          </a:xfrm>
          <a:prstGeom prst="line">
            <a:avLst/>
          </a:prstGeom>
          <a:noFill/>
          <a:ln w="12700">
            <a:solidFill>
              <a:srgbClr val="2A3448"/>
            </a:solidFill>
            <a:prstDash val="solid"/>
          </a:ln>
        </p:spPr>
        <p:txBody>
          <a:bodyPr/>
          <a:lstStyle/>
          <a:p>
            <a:endParaRPr lang="en-US" sz="2400"/>
          </a:p>
        </p:txBody>
      </p:sp>
      <p:sp>
        <p:nvSpPr>
          <p:cNvPr id="38" name="Text 35"/>
          <p:cNvSpPr/>
          <p:nvPr/>
        </p:nvSpPr>
        <p:spPr>
          <a:xfrm>
            <a:off x="6705600" y="5608320"/>
            <a:ext cx="4267200" cy="304800"/>
          </a:xfrm>
          <a:prstGeom prst="rect">
            <a:avLst/>
          </a:prstGeom>
          <a:noFill/>
          <a:ln/>
        </p:spPr>
        <p:txBody>
          <a:bodyPr wrap="square" lIns="0" tIns="0" rIns="0" bIns="0" rtlCol="0" anchor="ctr"/>
          <a:lstStyle/>
          <a:p>
            <a:r>
              <a:rPr lang="en-US" sz="1333" dirty="0">
                <a:solidFill>
                  <a:srgbClr val="8A95A5"/>
                </a:solidFill>
                <a:latin typeface="Calibri" pitchFamily="34" charset="0"/>
                <a:ea typeface="Calibri" pitchFamily="34" charset="-122"/>
                <a:cs typeface="Calibri" pitchFamily="34" charset="-120"/>
              </a:rPr>
              <a:t>The real question:</a:t>
            </a:r>
            <a:endParaRPr lang="en-US" sz="1333" dirty="0"/>
          </a:p>
        </p:txBody>
      </p:sp>
      <p:sp>
        <p:nvSpPr>
          <p:cNvPr id="39" name="Text 36"/>
          <p:cNvSpPr/>
          <p:nvPr/>
        </p:nvSpPr>
        <p:spPr>
          <a:xfrm>
            <a:off x="6705600" y="5913120"/>
            <a:ext cx="4267200" cy="365760"/>
          </a:xfrm>
          <a:prstGeom prst="rect">
            <a:avLst/>
          </a:prstGeom>
          <a:noFill/>
          <a:ln/>
        </p:spPr>
        <p:txBody>
          <a:bodyPr wrap="square" lIns="0" tIns="0" rIns="0" bIns="0" rtlCol="0" anchor="ctr"/>
          <a:lstStyle/>
          <a:p>
            <a:r>
              <a:rPr lang="en-US" sz="1600" b="1" i="1" dirty="0">
                <a:solidFill>
                  <a:srgbClr val="F59E0B"/>
                </a:solidFill>
                <a:latin typeface="Calibri" pitchFamily="34" charset="0"/>
                <a:ea typeface="Calibri" pitchFamily="34" charset="-122"/>
                <a:cs typeface="Calibri" pitchFamily="34" charset="-120"/>
              </a:rPr>
              <a:t>"Can I try another boundary?"</a:t>
            </a:r>
            <a:endParaRPr lang="en-US" sz="1600" dirty="0"/>
          </a:p>
        </p:txBody>
      </p:sp>
      <p:sp>
        <p:nvSpPr>
          <p:cNvPr id="40" name="Text 37"/>
          <p:cNvSpPr/>
          <p:nvPr/>
        </p:nvSpPr>
        <p:spPr>
          <a:xfrm>
            <a:off x="853440" y="6278880"/>
            <a:ext cx="10485120" cy="426720"/>
          </a:xfrm>
          <a:prstGeom prst="rect">
            <a:avLst/>
          </a:prstGeom>
          <a:noFill/>
          <a:ln/>
        </p:spPr>
        <p:txBody>
          <a:bodyPr wrap="square" lIns="0" tIns="0" rIns="0" bIns="0" rtlCol="0" anchor="ctr"/>
          <a:lstStyle/>
          <a:p>
            <a:r>
              <a:rPr lang="en-US" sz="1600" i="1" dirty="0">
                <a:solidFill>
                  <a:srgbClr val="F59E0B"/>
                </a:solidFill>
                <a:latin typeface="Calibri" pitchFamily="34" charset="0"/>
                <a:ea typeface="Calibri" pitchFamily="34" charset="-122"/>
                <a:cs typeface="Calibri" pitchFamily="34" charset="-120"/>
              </a:rPr>
              <a:t>Design is iterative. A tool with high marginal cost per revision stops exploration before it starts.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F1115"/>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38912"/>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Alpha Splice collapses the gulf of execution</a:t>
            </a:r>
            <a:endParaRPr lang="en-US" sz="2800" dirty="0"/>
          </a:p>
        </p:txBody>
      </p:sp>
      <p:sp>
        <p:nvSpPr>
          <p:cNvPr id="3" name="Text 1"/>
          <p:cNvSpPr/>
          <p:nvPr/>
        </p:nvSpPr>
        <p:spPr>
          <a:xfrm>
            <a:off x="548640" y="804672"/>
            <a:ext cx="10881360" cy="329184"/>
          </a:xfrm>
          <a:prstGeom prst="rect">
            <a:avLst/>
          </a:prstGeom>
          <a:noFill/>
          <a:ln/>
        </p:spPr>
        <p:txBody>
          <a:bodyPr wrap="square" lIns="0" tIns="0" rIns="0" bIns="0" rtlCol="0" anchor="ctr"/>
          <a:lstStyle/>
          <a:p>
            <a:pPr marL="0" indent="0">
              <a:buNone/>
            </a:pPr>
            <a:r>
              <a:rPr lang="en-US" sz="1450" dirty="0">
                <a:solidFill>
                  <a:srgbClr val="AAB3C2"/>
                </a:solidFill>
                <a:latin typeface="Aptos" pitchFamily="34" charset="0"/>
                <a:ea typeface="Aptos" pitchFamily="34" charset="-122"/>
                <a:cs typeface="Aptos" pitchFamily="34" charset="-120"/>
              </a:rPr>
              <a:t>The user expresses where. The system handles RGBA channel routing internally.</a:t>
            </a:r>
            <a:endParaRPr lang="en-US" sz="1450" dirty="0"/>
          </a:p>
        </p:txBody>
      </p:sp>
      <p:sp>
        <p:nvSpPr>
          <p:cNvPr id="4" name="Shape 2"/>
          <p:cNvSpPr/>
          <p:nvPr/>
        </p:nvSpPr>
        <p:spPr>
          <a:xfrm>
            <a:off x="713232" y="1600200"/>
            <a:ext cx="4547187" cy="3566160"/>
          </a:xfrm>
          <a:prstGeom prst="roundRect">
            <a:avLst>
              <a:gd name="adj" fmla="val 2051"/>
            </a:avLst>
          </a:prstGeom>
          <a:solidFill>
            <a:srgbClr val="202632"/>
          </a:solidFill>
          <a:ln w="12700">
            <a:solidFill>
              <a:srgbClr val="5AA2FF"/>
            </a:solidFill>
            <a:prstDash val="solid"/>
          </a:ln>
        </p:spPr>
        <p:txBody>
          <a:bodyPr/>
          <a:lstStyle/>
          <a:p>
            <a:endParaRPr lang="zh-CN" altLang="en-US"/>
          </a:p>
        </p:txBody>
      </p:sp>
      <p:sp>
        <p:nvSpPr>
          <p:cNvPr id="5" name="Shape 3"/>
          <p:cNvSpPr/>
          <p:nvPr/>
        </p:nvSpPr>
        <p:spPr>
          <a:xfrm>
            <a:off x="6263640" y="1600200"/>
            <a:ext cx="5212080" cy="3566160"/>
          </a:xfrm>
          <a:prstGeom prst="roundRect">
            <a:avLst>
              <a:gd name="adj" fmla="val 2051"/>
            </a:avLst>
          </a:prstGeom>
          <a:solidFill>
            <a:srgbClr val="202632"/>
          </a:solidFill>
          <a:ln w="12700">
            <a:solidFill>
              <a:srgbClr val="57C17B"/>
            </a:solidFill>
            <a:prstDash val="solid"/>
          </a:ln>
        </p:spPr>
        <p:txBody>
          <a:bodyPr/>
          <a:lstStyle/>
          <a:p>
            <a:endParaRPr lang="zh-CN" altLang="en-US"/>
          </a:p>
        </p:txBody>
      </p:sp>
      <p:sp>
        <p:nvSpPr>
          <p:cNvPr id="6" name="Text 4"/>
          <p:cNvSpPr/>
          <p:nvPr/>
        </p:nvSpPr>
        <p:spPr>
          <a:xfrm>
            <a:off x="987552" y="1965960"/>
            <a:ext cx="2011680" cy="274320"/>
          </a:xfrm>
          <a:prstGeom prst="rect">
            <a:avLst/>
          </a:prstGeom>
          <a:noFill/>
          <a:ln/>
        </p:spPr>
        <p:txBody>
          <a:bodyPr wrap="square" lIns="0" tIns="0" rIns="0" bIns="0" rtlCol="0" anchor="ctr"/>
          <a:lstStyle/>
          <a:p>
            <a:pPr marL="0" indent="0">
              <a:buNone/>
            </a:pPr>
            <a:r>
              <a:rPr lang="en-US" sz="2400" b="1" dirty="0">
                <a:solidFill>
                  <a:srgbClr val="5AA2FF"/>
                </a:solidFill>
              </a:rPr>
              <a:t>Step 1 — Align</a:t>
            </a:r>
            <a:endParaRPr lang="en-US" sz="2400" dirty="0"/>
          </a:p>
        </p:txBody>
      </p:sp>
      <p:sp>
        <p:nvSpPr>
          <p:cNvPr id="7" name="Text 5"/>
          <p:cNvSpPr/>
          <p:nvPr/>
        </p:nvSpPr>
        <p:spPr>
          <a:xfrm>
            <a:off x="987552" y="2395728"/>
            <a:ext cx="4389120" cy="1737360"/>
          </a:xfrm>
          <a:prstGeom prst="rect">
            <a:avLst/>
          </a:prstGeom>
          <a:noFill/>
          <a:ln/>
        </p:spPr>
        <p:txBody>
          <a:bodyPr wrap="square" lIns="381" tIns="381" rIns="381" bIns="381" rtlCol="0" anchor="ctr"/>
          <a:lstStyle/>
          <a:p>
            <a:pPr marL="101600" indent="-101600">
              <a:buSzPct val="100000"/>
              <a:buChar char="•"/>
            </a:pPr>
            <a:r>
              <a:rPr lang="en-US" sz="1800" dirty="0">
                <a:solidFill>
                  <a:srgbClr val="E8ECF3"/>
                </a:solidFill>
                <a:latin typeface="Aptos" pitchFamily="34" charset="0"/>
                <a:ea typeface="Aptos" pitchFamily="34" charset="-122"/>
                <a:cs typeface="Aptos" pitchFamily="34" charset="-120"/>
              </a:rPr>
              <a:t>Load two RGBA images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Choose base and overlay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Drag and scale until the seam lines up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Confirm and enter mask editing</a:t>
            </a:r>
            <a:endParaRPr lang="en-US" sz="1800" dirty="0"/>
          </a:p>
        </p:txBody>
      </p:sp>
      <p:sp>
        <p:nvSpPr>
          <p:cNvPr id="8" name="Text 6"/>
          <p:cNvSpPr/>
          <p:nvPr/>
        </p:nvSpPr>
        <p:spPr>
          <a:xfrm>
            <a:off x="6537959" y="1926763"/>
            <a:ext cx="3660221" cy="375370"/>
          </a:xfrm>
          <a:prstGeom prst="rect">
            <a:avLst/>
          </a:prstGeom>
          <a:noFill/>
          <a:ln/>
        </p:spPr>
        <p:txBody>
          <a:bodyPr wrap="square" lIns="0" tIns="0" rIns="0" bIns="0" rtlCol="0" anchor="ctr"/>
          <a:lstStyle/>
          <a:p>
            <a:pPr marL="0" indent="0">
              <a:buNone/>
            </a:pPr>
            <a:r>
              <a:rPr lang="en-US" sz="2400" b="1" dirty="0">
                <a:solidFill>
                  <a:srgbClr val="57C17B"/>
                </a:solidFill>
              </a:rPr>
              <a:t>Step 2 — Mask edit</a:t>
            </a:r>
            <a:endParaRPr lang="en-US" sz="2400" dirty="0"/>
          </a:p>
        </p:txBody>
      </p:sp>
      <p:sp>
        <p:nvSpPr>
          <p:cNvPr id="9" name="Text 7"/>
          <p:cNvSpPr/>
          <p:nvPr/>
        </p:nvSpPr>
        <p:spPr>
          <a:xfrm>
            <a:off x="6537960" y="2395728"/>
            <a:ext cx="4297680" cy="1737360"/>
          </a:xfrm>
          <a:prstGeom prst="rect">
            <a:avLst/>
          </a:prstGeom>
          <a:noFill/>
          <a:ln/>
        </p:spPr>
        <p:txBody>
          <a:bodyPr wrap="square" lIns="381" tIns="381" rIns="381" bIns="381" rtlCol="0" anchor="ctr"/>
          <a:lstStyle/>
          <a:p>
            <a:pPr marL="101600" indent="-101600">
              <a:buSzPct val="100000"/>
              <a:buChar char="•"/>
            </a:pPr>
            <a:r>
              <a:rPr lang="en-US" sz="1800" dirty="0">
                <a:solidFill>
                  <a:srgbClr val="E8ECF3"/>
                </a:solidFill>
                <a:latin typeface="Aptos" pitchFamily="34" charset="0"/>
                <a:ea typeface="Aptos" pitchFamily="34" charset="-122"/>
                <a:cs typeface="Aptos" pitchFamily="34" charset="-120"/>
              </a:rPr>
              <a:t>Paint with brush / eraser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Use Border Fill from existing boundaries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See the RGBA result live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Export directly to PNG</a:t>
            </a:r>
            <a:endParaRPr lang="en-US" sz="1800" dirty="0"/>
          </a:p>
        </p:txBody>
      </p:sp>
      <p:sp>
        <p:nvSpPr>
          <p:cNvPr id="10" name="Shape 8"/>
          <p:cNvSpPr/>
          <p:nvPr/>
        </p:nvSpPr>
        <p:spPr>
          <a:xfrm>
            <a:off x="5440680" y="3288345"/>
            <a:ext cx="621792" cy="0"/>
          </a:xfrm>
          <a:prstGeom prst="line">
            <a:avLst/>
          </a:prstGeom>
          <a:noFill/>
          <a:ln w="12700">
            <a:solidFill>
              <a:srgbClr val="F1B75A"/>
            </a:solidFill>
            <a:prstDash val="solid"/>
            <a:headEnd type="none"/>
            <a:tailEnd type="triangle"/>
          </a:ln>
        </p:spPr>
        <p:txBody>
          <a:bodyPr/>
          <a:lstStyle/>
          <a:p>
            <a:endParaRPr lang="zh-CN" altLang="en-US"/>
          </a:p>
        </p:txBody>
      </p:sp>
      <p:sp>
        <p:nvSpPr>
          <p:cNvPr id="11" name="Shape 9"/>
          <p:cNvSpPr/>
          <p:nvPr/>
        </p:nvSpPr>
        <p:spPr>
          <a:xfrm>
            <a:off x="1325880" y="5440680"/>
            <a:ext cx="9509760" cy="658368"/>
          </a:xfrm>
          <a:prstGeom prst="roundRect">
            <a:avLst>
              <a:gd name="adj" fmla="val 11111"/>
            </a:avLst>
          </a:prstGeom>
          <a:solidFill>
            <a:srgbClr val="1B2420"/>
          </a:solidFill>
          <a:ln w="12700">
            <a:solidFill>
              <a:srgbClr val="57C17B"/>
            </a:solidFill>
            <a:prstDash val="solid"/>
          </a:ln>
        </p:spPr>
        <p:txBody>
          <a:bodyPr/>
          <a:lstStyle/>
          <a:p>
            <a:endParaRPr lang="zh-CN" altLang="en-US"/>
          </a:p>
        </p:txBody>
      </p:sp>
      <p:sp>
        <p:nvSpPr>
          <p:cNvPr id="12" name="Text 10"/>
          <p:cNvSpPr/>
          <p:nvPr/>
        </p:nvSpPr>
        <p:spPr>
          <a:xfrm>
            <a:off x="1600200" y="5632704"/>
            <a:ext cx="8961120" cy="219456"/>
          </a:xfrm>
          <a:prstGeom prst="rect">
            <a:avLst/>
          </a:prstGeom>
          <a:noFill/>
          <a:ln/>
        </p:spPr>
        <p:txBody>
          <a:bodyPr wrap="square" lIns="0" tIns="0" rIns="0" bIns="0" rtlCol="0" anchor="ctr"/>
          <a:lstStyle/>
          <a:p>
            <a:pPr marL="0" indent="0" algn="ctr">
              <a:buNone/>
            </a:pPr>
            <a:r>
              <a:rPr lang="en-US" sz="2200" b="1" dirty="0">
                <a:solidFill>
                  <a:srgbClr val="FFFFFF"/>
                </a:solidFill>
              </a:rPr>
              <a:t>User paints the region. The system routes RGBA correctly.</a:t>
            </a:r>
            <a:endParaRPr lang="en-US" sz="2200" dirty="0"/>
          </a:p>
        </p:txBody>
      </p:sp>
      <p:sp>
        <p:nvSpPr>
          <p:cNvPr id="13" name="Text 11"/>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From two disconnected workflows to one direct-manipulation interaction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A0D12"/>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438912"/>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Live demo · 3 minutes</a:t>
            </a:r>
            <a:endParaRPr lang="en-US" sz="2800" dirty="0"/>
          </a:p>
        </p:txBody>
      </p:sp>
      <p:sp>
        <p:nvSpPr>
          <p:cNvPr id="3" name="Text 1"/>
          <p:cNvSpPr/>
          <p:nvPr/>
        </p:nvSpPr>
        <p:spPr>
          <a:xfrm>
            <a:off x="548640" y="804672"/>
            <a:ext cx="10881360" cy="329184"/>
          </a:xfrm>
          <a:prstGeom prst="rect">
            <a:avLst/>
          </a:prstGeom>
          <a:noFill/>
          <a:ln/>
        </p:spPr>
        <p:txBody>
          <a:bodyPr wrap="square" lIns="0" tIns="0" rIns="0" bIns="0" rtlCol="0" anchor="ctr"/>
          <a:lstStyle/>
          <a:p>
            <a:pPr marL="0" indent="0">
              <a:buNone/>
            </a:pPr>
            <a:r>
              <a:rPr lang="en-US" sz="1450" dirty="0">
                <a:solidFill>
                  <a:srgbClr val="AAB3C2"/>
                </a:solidFill>
                <a:latin typeface="Aptos" pitchFamily="34" charset="0"/>
                <a:ea typeface="Aptos" pitchFamily="34" charset="-122"/>
                <a:cs typeface="Aptos" pitchFamily="34" charset="-120"/>
              </a:rPr>
              <a:t>I will show the same idea on an arbitrary mask — not just a seam-shaped region.</a:t>
            </a:r>
            <a:endParaRPr lang="en-US" sz="1450" dirty="0"/>
          </a:p>
        </p:txBody>
      </p:sp>
      <p:sp>
        <p:nvSpPr>
          <p:cNvPr id="4" name="Text 2"/>
          <p:cNvSpPr/>
          <p:nvPr/>
        </p:nvSpPr>
        <p:spPr>
          <a:xfrm>
            <a:off x="1143000" y="1938528"/>
            <a:ext cx="1645920" cy="228600"/>
          </a:xfrm>
          <a:prstGeom prst="rect">
            <a:avLst/>
          </a:prstGeom>
          <a:noFill/>
          <a:ln/>
        </p:spPr>
        <p:txBody>
          <a:bodyPr wrap="square" lIns="0" tIns="0" rIns="0" bIns="0" rtlCol="0" anchor="ctr"/>
          <a:lstStyle/>
          <a:p>
            <a:pPr marL="0" indent="0">
              <a:buNone/>
            </a:pPr>
            <a:r>
              <a:rPr lang="en-US" sz="2300" b="1" dirty="0">
                <a:solidFill>
                  <a:srgbClr val="5AA2FF"/>
                </a:solidFill>
              </a:rPr>
              <a:t>Demo flow</a:t>
            </a:r>
            <a:endParaRPr lang="en-US" sz="2300" dirty="0"/>
          </a:p>
        </p:txBody>
      </p:sp>
      <p:sp>
        <p:nvSpPr>
          <p:cNvPr id="5" name="Text 3"/>
          <p:cNvSpPr/>
          <p:nvPr/>
        </p:nvSpPr>
        <p:spPr>
          <a:xfrm>
            <a:off x="1115568" y="2395728"/>
            <a:ext cx="4434840" cy="2331720"/>
          </a:xfrm>
          <a:prstGeom prst="rect">
            <a:avLst/>
          </a:prstGeom>
          <a:noFill/>
          <a:ln/>
        </p:spPr>
        <p:txBody>
          <a:bodyPr wrap="square" lIns="381" tIns="381" rIns="381" bIns="381" rtlCol="0" anchor="ctr"/>
          <a:lstStyle/>
          <a:p>
            <a:pPr marL="101600" indent="-101600">
              <a:buSzPct val="100000"/>
              <a:buChar char="•"/>
            </a:pPr>
            <a:r>
              <a:rPr lang="en-US" sz="1800" dirty="0">
                <a:solidFill>
                  <a:srgbClr val="E8ECF3"/>
                </a:solidFill>
                <a:latin typeface="Aptos" pitchFamily="34" charset="0"/>
                <a:ea typeface="Aptos" pitchFamily="34" charset="-122"/>
                <a:cs typeface="Aptos" pitchFamily="34" charset="-120"/>
              </a:rPr>
              <a:t>Load two images with alpha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Align overlay to base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Paint or fill the mask region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Toggle RGBA / alpha verification
</a:t>
            </a:r>
            <a:endParaRPr lang="en-US" sz="1800" dirty="0"/>
          </a:p>
          <a:p>
            <a:pPr marL="101600" indent="-101600">
              <a:buSzPct val="100000"/>
              <a:buChar char="•"/>
            </a:pPr>
            <a:r>
              <a:rPr lang="en-US" sz="1800" dirty="0">
                <a:solidFill>
                  <a:srgbClr val="E8ECF3"/>
                </a:solidFill>
                <a:latin typeface="Aptos" pitchFamily="34" charset="0"/>
                <a:ea typeface="Aptos" pitchFamily="34" charset="-122"/>
                <a:cs typeface="Aptos" pitchFamily="34" charset="-120"/>
              </a:rPr>
              <a:t>Export the final PNG</a:t>
            </a:r>
            <a:endParaRPr lang="en-US" sz="1800" dirty="0"/>
          </a:p>
        </p:txBody>
      </p:sp>
      <p:sp>
        <p:nvSpPr>
          <p:cNvPr id="6" name="Text 4"/>
          <p:cNvSpPr/>
          <p:nvPr/>
        </p:nvSpPr>
        <p:spPr>
          <a:xfrm>
            <a:off x="1143000" y="5074920"/>
            <a:ext cx="2103120" cy="201168"/>
          </a:xfrm>
          <a:prstGeom prst="rect">
            <a:avLst/>
          </a:prstGeom>
          <a:noFill/>
          <a:ln/>
        </p:spPr>
        <p:txBody>
          <a:bodyPr wrap="square" lIns="0" tIns="0" rIns="0" bIns="0" rtlCol="0" anchor="ctr"/>
          <a:lstStyle/>
          <a:p>
            <a:pPr marL="0" indent="0">
              <a:buNone/>
            </a:pPr>
            <a:r>
              <a:rPr lang="en-US" sz="1800" b="1" dirty="0">
                <a:solidFill>
                  <a:srgbClr val="F1B75A"/>
                </a:solidFill>
              </a:rPr>
              <a:t>Goal to watch for:</a:t>
            </a:r>
            <a:endParaRPr lang="en-US" sz="1800" dirty="0"/>
          </a:p>
        </p:txBody>
      </p:sp>
      <p:sp>
        <p:nvSpPr>
          <p:cNvPr id="7" name="Text 5"/>
          <p:cNvSpPr/>
          <p:nvPr/>
        </p:nvSpPr>
        <p:spPr>
          <a:xfrm>
            <a:off x="1143000" y="5394960"/>
            <a:ext cx="4480560" cy="457200"/>
          </a:xfrm>
          <a:prstGeom prst="rect">
            <a:avLst/>
          </a:prstGeom>
          <a:noFill/>
          <a:ln/>
        </p:spPr>
        <p:txBody>
          <a:bodyPr wrap="square" lIns="0" tIns="0" rIns="0" bIns="0" rtlCol="0" anchor="ctr"/>
          <a:lstStyle/>
          <a:p>
            <a:pPr marL="0" indent="0">
              <a:buNone/>
            </a:pPr>
            <a:r>
              <a:rPr lang="en-US" sz="1700" dirty="0">
                <a:solidFill>
                  <a:srgbClr val="E8ECF3"/>
                </a:solidFill>
              </a:rPr>
              <a:t>The interaction stays spatial, while channel routing stays invisible.</a:t>
            </a:r>
            <a:endParaRPr lang="en-US" sz="1700" dirty="0"/>
          </a:p>
        </p:txBody>
      </p:sp>
      <p:pic>
        <p:nvPicPr>
          <p:cNvPr id="8" name="Image 0" descr="/mnt/data/naive_cut_crop.png"/>
          <p:cNvPicPr>
            <a:picLocks noChangeAspect="1"/>
          </p:cNvPicPr>
          <p:nvPr/>
        </p:nvPicPr>
        <p:blipFill>
          <a:blip r:embed="rId3"/>
          <a:srcRect t="1069" b="1069"/>
          <a:stretch/>
        </p:blipFill>
        <p:spPr>
          <a:xfrm>
            <a:off x="6656832" y="1719072"/>
            <a:ext cx="4407408" cy="3657600"/>
          </a:xfrm>
          <a:prstGeom prst="rect">
            <a:avLst/>
          </a:prstGeom>
        </p:spPr>
      </p:pic>
      <p:sp>
        <p:nvSpPr>
          <p:cNvPr id="9" name="Text 6"/>
          <p:cNvSpPr/>
          <p:nvPr/>
        </p:nvSpPr>
        <p:spPr>
          <a:xfrm>
            <a:off x="7790688" y="5468112"/>
            <a:ext cx="2194560" cy="182880"/>
          </a:xfrm>
          <a:prstGeom prst="rect">
            <a:avLst/>
          </a:prstGeom>
          <a:noFill/>
          <a:ln/>
        </p:spPr>
        <p:txBody>
          <a:bodyPr wrap="square" lIns="0" tIns="0" rIns="0" bIns="0" rtlCol="0" anchor="ctr"/>
          <a:lstStyle/>
          <a:p>
            <a:pPr marL="0" indent="0" algn="ctr">
              <a:buNone/>
            </a:pPr>
            <a:r>
              <a:rPr lang="en-US" sz="1200" dirty="0">
                <a:solidFill>
                  <a:srgbClr val="AAB3C2"/>
                </a:solidFill>
              </a:rPr>
              <a:t>Arbitrary mask example</a:t>
            </a:r>
            <a:endParaRPr lang="en-US" sz="1200" dirty="0"/>
          </a:p>
        </p:txBody>
      </p:sp>
      <p:sp>
        <p:nvSpPr>
          <p:cNvPr id="10" name="Text 7"/>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Demo emphasis: one gesture, correct RGBA output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1115"/>
        </a:solidFill>
        <a:effectLst/>
      </p:bgPr>
    </p:bg>
    <p:spTree>
      <p:nvGrpSpPr>
        <p:cNvPr id="1" name=""/>
        <p:cNvGrpSpPr/>
        <p:nvPr/>
      </p:nvGrpSpPr>
      <p:grpSpPr>
        <a:xfrm>
          <a:off x="0" y="0"/>
          <a:ext cx="0" cy="0"/>
          <a:chOff x="0" y="0"/>
          <a:chExt cx="0" cy="0"/>
        </a:xfrm>
      </p:grpSpPr>
      <p:sp>
        <p:nvSpPr>
          <p:cNvPr id="2" name="Text 0"/>
          <p:cNvSpPr/>
          <p:nvPr/>
        </p:nvSpPr>
        <p:spPr>
          <a:xfrm>
            <a:off x="731520" y="914400"/>
            <a:ext cx="2743200" cy="411480"/>
          </a:xfrm>
          <a:prstGeom prst="rect">
            <a:avLst/>
          </a:prstGeom>
          <a:noFill/>
          <a:ln/>
        </p:spPr>
        <p:txBody>
          <a:bodyPr wrap="square" lIns="0" tIns="0" rIns="0" bIns="0" rtlCol="0" anchor="ctr"/>
          <a:lstStyle/>
          <a:p>
            <a:pPr marL="0" indent="0">
              <a:buNone/>
            </a:pPr>
            <a:r>
              <a:rPr lang="en-US" sz="2800" b="1" dirty="0">
                <a:solidFill>
                  <a:srgbClr val="5AA2FF"/>
                </a:solidFill>
                <a:latin typeface="Aptos Display" pitchFamily="34" charset="0"/>
                <a:ea typeface="Aptos Display" pitchFamily="34" charset="-122"/>
                <a:cs typeface="Aptos Display" pitchFamily="34" charset="-120"/>
              </a:rPr>
              <a:t>Takeaway</a:t>
            </a:r>
            <a:endParaRPr lang="en-US" sz="2800" dirty="0"/>
          </a:p>
        </p:txBody>
      </p:sp>
      <p:sp>
        <p:nvSpPr>
          <p:cNvPr id="3" name="Text 1"/>
          <p:cNvSpPr/>
          <p:nvPr/>
        </p:nvSpPr>
        <p:spPr>
          <a:xfrm>
            <a:off x="749808" y="1600200"/>
            <a:ext cx="6903720" cy="1920240"/>
          </a:xfrm>
          <a:prstGeom prst="rect">
            <a:avLst/>
          </a:prstGeom>
          <a:noFill/>
          <a:ln/>
        </p:spPr>
        <p:txBody>
          <a:bodyPr wrap="square" lIns="0" tIns="0" rIns="0" bIns="0" rtlCol="0" anchor="ctr"/>
          <a:lstStyle/>
          <a:p>
            <a:pPr marL="0" indent="0">
              <a:buNone/>
            </a:pPr>
            <a:r>
              <a:rPr lang="en-US" sz="2200" dirty="0">
                <a:solidFill>
                  <a:srgbClr val="E8ECF3"/>
                </a:solidFill>
              </a:rPr>
              <a:t>This task feels simple in the real world because a seam already tells us which material belongs on each side. Photoshop breaks that intuition by separating visible RGB from exported alpha. Alpha Splice restores the right abstraction: draw and revises the region freely, and let the system route RGBA for every pixel, every time.</a:t>
            </a:r>
            <a:endParaRPr lang="en-US" sz="2200" dirty="0"/>
          </a:p>
        </p:txBody>
      </p:sp>
      <p:sp>
        <p:nvSpPr>
          <p:cNvPr id="4" name="Shape 2"/>
          <p:cNvSpPr/>
          <p:nvPr/>
        </p:nvSpPr>
        <p:spPr>
          <a:xfrm>
            <a:off x="749808" y="3840480"/>
            <a:ext cx="2286000" cy="0"/>
          </a:xfrm>
          <a:prstGeom prst="line">
            <a:avLst/>
          </a:prstGeom>
          <a:noFill/>
          <a:ln w="12700">
            <a:solidFill>
              <a:srgbClr val="57C17B"/>
            </a:solidFill>
            <a:prstDash val="solid"/>
          </a:ln>
        </p:spPr>
        <p:txBody>
          <a:bodyPr/>
          <a:lstStyle/>
          <a:p>
            <a:endParaRPr lang="zh-CN" altLang="en-US"/>
          </a:p>
        </p:txBody>
      </p:sp>
      <p:sp>
        <p:nvSpPr>
          <p:cNvPr id="5" name="Text 3"/>
          <p:cNvSpPr/>
          <p:nvPr/>
        </p:nvSpPr>
        <p:spPr>
          <a:xfrm>
            <a:off x="749808" y="4069080"/>
            <a:ext cx="2194560" cy="36576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Thank you</a:t>
            </a:r>
            <a:endParaRPr lang="en-US" sz="2400" dirty="0"/>
          </a:p>
        </p:txBody>
      </p:sp>
      <p:sp>
        <p:nvSpPr>
          <p:cNvPr id="6" name="Text 4"/>
          <p:cNvSpPr/>
          <p:nvPr/>
        </p:nvSpPr>
        <p:spPr>
          <a:xfrm>
            <a:off x="749808" y="4526280"/>
            <a:ext cx="2011680" cy="320040"/>
          </a:xfrm>
          <a:prstGeom prst="rect">
            <a:avLst/>
          </a:prstGeom>
          <a:noFill/>
          <a:ln/>
        </p:spPr>
        <p:txBody>
          <a:bodyPr wrap="square" lIns="0" tIns="0" rIns="0" bIns="0" rtlCol="0" anchor="ctr"/>
          <a:lstStyle/>
          <a:p>
            <a:pPr marL="0" indent="0">
              <a:buNone/>
            </a:pPr>
            <a:r>
              <a:rPr lang="en-US" sz="1800" dirty="0">
                <a:solidFill>
                  <a:srgbClr val="AAB3C2"/>
                </a:solidFill>
              </a:rPr>
              <a:t>Questions?</a:t>
            </a:r>
            <a:endParaRPr lang="en-US" sz="1800" dirty="0"/>
          </a:p>
        </p:txBody>
      </p:sp>
      <p:pic>
        <p:nvPicPr>
          <p:cNvPr id="7" name="Image 0" descr="/mnt/data/patchwork_thankyou_crop.png"/>
          <p:cNvPicPr>
            <a:picLocks noChangeAspect="1"/>
          </p:cNvPicPr>
          <p:nvPr/>
        </p:nvPicPr>
        <p:blipFill>
          <a:blip r:embed="rId3"/>
          <a:stretch>
            <a:fillRect/>
          </a:stretch>
        </p:blipFill>
        <p:spPr>
          <a:xfrm>
            <a:off x="8156448" y="822960"/>
            <a:ext cx="3337560" cy="4937760"/>
          </a:xfrm>
          <a:prstGeom prst="rect">
            <a:avLst/>
          </a:prstGeom>
        </p:spPr>
      </p:pic>
      <p:sp>
        <p:nvSpPr>
          <p:cNvPr id="8" name="Text 5"/>
          <p:cNvSpPr/>
          <p:nvPr/>
        </p:nvSpPr>
        <p:spPr>
          <a:xfrm>
            <a:off x="548640" y="6473952"/>
            <a:ext cx="11064240" cy="164592"/>
          </a:xfrm>
          <a:prstGeom prst="rect">
            <a:avLst/>
          </a:prstGeom>
          <a:noFill/>
          <a:ln/>
        </p:spPr>
        <p:txBody>
          <a:bodyPr wrap="square" lIns="0" tIns="0" rIns="0" bIns="0" rtlCol="0" anchor="ctr"/>
          <a:lstStyle/>
          <a:p>
            <a:pPr marL="0" indent="0" algn="r">
              <a:buNone/>
            </a:pPr>
            <a:r>
              <a:rPr lang="en-US" sz="1050" dirty="0">
                <a:solidFill>
                  <a:srgbClr val="7F8897"/>
                </a:solidFill>
              </a:rPr>
              <a:t>Alpha Splice · HCI framing: restore the correct abstraction</a:t>
            </a:r>
            <a:endParaRPr lang="en-US" sz="105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91</TotalTime>
  <Words>2273</Words>
  <Application>Microsoft Office PowerPoint</Application>
  <PresentationFormat>Widescreen</PresentationFormat>
  <Paragraphs>223</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 Splice — Sewing Intuition for RGBA Compositing</dc:title>
  <dc:subject>Alpha Splice HCI presentation</dc:subject>
  <dc:creator>OpenAI</dc:creator>
  <cp:lastModifiedBy>N Z</cp:lastModifiedBy>
  <cp:revision>2</cp:revision>
  <dcterms:created xsi:type="dcterms:W3CDTF">2026-04-29T23:53:52Z</dcterms:created>
  <dcterms:modified xsi:type="dcterms:W3CDTF">2026-04-30T05:01:48Z</dcterms:modified>
</cp:coreProperties>
</file>